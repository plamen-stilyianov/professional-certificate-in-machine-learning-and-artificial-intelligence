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9144000"/>
  <p:notesSz cx="6858000" cy="9144000"/>
  <p:embeddedFontLst>
    <p:embeddedFont>
      <p:font typeface="Roboto"/>
      <p:regular r:id="rId26"/>
      <p:bold r:id="rId27"/>
      <p:italic r:id="rId28"/>
      <p:boldItalic r:id="rId29"/>
    </p:embeddedFont>
    <p:embeddedFont>
      <p:font typeface="Merriweather"/>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4" roundtripDataSignature="AMtx7mjZRE6uZWxrmosiwLWsL1c3Gams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slide" Target="slides/slide21.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erriweather-bold.fntdata"/><Relationship Id="rId30" Type="http://schemas.openxmlformats.org/officeDocument/2006/relationships/font" Target="fonts/Merriweather-regular.fntdata"/><Relationship Id="rId11" Type="http://schemas.openxmlformats.org/officeDocument/2006/relationships/slide" Target="slides/slide7.xml"/><Relationship Id="rId33" Type="http://schemas.openxmlformats.org/officeDocument/2006/relationships/font" Target="fonts/Merriweather-boldItalic.fntdata"/><Relationship Id="rId10" Type="http://schemas.openxmlformats.org/officeDocument/2006/relationships/slide" Target="slides/slide6.xml"/><Relationship Id="rId32" Type="http://schemas.openxmlformats.org/officeDocument/2006/relationships/font" Target="fonts/Merriweather-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2d80d25c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ZA"/>
              <a:t>Time stamped data: d</a:t>
            </a:r>
            <a:r>
              <a:rPr lang="en-ZA" sz="1200">
                <a:solidFill>
                  <a:srgbClr val="202124"/>
                </a:solidFill>
                <a:highlight>
                  <a:srgbClr val="FFFFFF"/>
                </a:highlight>
              </a:rPr>
              <a:t>etermine the period for which each record is valid.</a:t>
            </a:r>
            <a:endParaRPr/>
          </a:p>
        </p:txBody>
      </p:sp>
      <p:sp>
        <p:nvSpPr>
          <p:cNvPr id="91" name="Google Shape;91;g12d80d25c5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2d80d25c50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ZA"/>
              <a:t>Time stamped data: d</a:t>
            </a:r>
            <a:r>
              <a:rPr lang="en-ZA" sz="1200">
                <a:solidFill>
                  <a:srgbClr val="202124"/>
                </a:solidFill>
                <a:highlight>
                  <a:srgbClr val="FFFFFF"/>
                </a:highlight>
              </a:rPr>
              <a:t>etermine the period for which each record is valid.</a:t>
            </a:r>
            <a:endParaRPr/>
          </a:p>
        </p:txBody>
      </p:sp>
      <p:sp>
        <p:nvSpPr>
          <p:cNvPr id="105" name="Google Shape;105;g12d80d25c50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7fd37c798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127fd37c798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d80d25c50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12d80d25c50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745014f3d5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2745014f3d5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745014f3d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2745014f3d5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d80d25c50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12d80d25c50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2d80d25c50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ZA"/>
              <a:t>Time series whose properties do not depend on the time at which time series is observed</a:t>
            </a:r>
            <a:endParaRPr/>
          </a:p>
        </p:txBody>
      </p:sp>
      <p:sp>
        <p:nvSpPr>
          <p:cNvPr id="185" name="Google Shape;185;g12d80d25c50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7fd37c798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127fd37c79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29d2328b0b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129d2328b0b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9d2328b0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129d2328b0b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d80d25c50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12d80d25c50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745014f3d5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2745014f3d5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745014f3d5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2745014f3d5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99a140c50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299a140c50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99a140c505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g299a140c505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99a140c505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299a140c505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99a140c505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299a140c505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9d2328b0b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129d2328b0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217c478b80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g1217c478b80_0_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p:nvPr>
            <p:ph idx="2" type="pic"/>
          </p:nvPr>
        </p:nvSpPr>
        <p:spPr>
          <a:xfrm>
            <a:off x="3887391" y="987426"/>
            <a:ext cx="4629150" cy="4873625"/>
          </a:xfrm>
          <a:prstGeom prst="rect">
            <a:avLst/>
          </a:prstGeom>
          <a:noFill/>
          <a:ln>
            <a:noFill/>
          </a:ln>
        </p:spPr>
      </p:sp>
      <p:sp>
        <p:nvSpPr>
          <p:cNvPr id="64" name="Google Shape;64;p15"/>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4572000" cy="68580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85" name="Google Shape;85;p1"/>
          <p:cNvPicPr preferRelativeResize="0"/>
          <p:nvPr/>
        </p:nvPicPr>
        <p:blipFill rotWithShape="1">
          <a:blip r:embed="rId3">
            <a:alphaModFix/>
          </a:blip>
          <a:srcRect b="0" l="0" r="0" t="0"/>
          <a:stretch/>
        </p:blipFill>
        <p:spPr>
          <a:xfrm>
            <a:off x="235132" y="137187"/>
            <a:ext cx="4188823" cy="571504"/>
          </a:xfrm>
          <a:prstGeom prst="rect">
            <a:avLst/>
          </a:prstGeom>
          <a:noFill/>
          <a:ln>
            <a:noFill/>
          </a:ln>
        </p:spPr>
      </p:pic>
      <p:sp>
        <p:nvSpPr>
          <p:cNvPr id="86" name="Google Shape;86;p1"/>
          <p:cNvSpPr txBox="1"/>
          <p:nvPr/>
        </p:nvSpPr>
        <p:spPr>
          <a:xfrm>
            <a:off x="200467" y="2775523"/>
            <a:ext cx="4188822" cy="1508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1" i="0" lang="en-ZA" sz="2300" u="none" cap="none" strike="noStrike">
                <a:solidFill>
                  <a:schemeClr val="lt1"/>
                </a:solidFill>
                <a:latin typeface="Roboto"/>
                <a:ea typeface="Roboto"/>
                <a:cs typeface="Roboto"/>
                <a:sym typeface="Roboto"/>
              </a:rPr>
              <a:t>PROFESSIONAL CERTIFICATE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ZA" sz="2300" u="none" cap="none" strike="noStrike">
                <a:solidFill>
                  <a:schemeClr val="lt1"/>
                </a:solidFill>
                <a:latin typeface="Roboto"/>
                <a:ea typeface="Roboto"/>
                <a:cs typeface="Roboto"/>
                <a:sym typeface="Roboto"/>
              </a:rPr>
              <a:t>IN MACHINE LEARNING AND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ZA" sz="2300" u="none" cap="none" strike="noStrike">
                <a:solidFill>
                  <a:schemeClr val="lt1"/>
                </a:solidFill>
                <a:latin typeface="Roboto"/>
                <a:ea typeface="Roboto"/>
                <a:cs typeface="Roboto"/>
                <a:sym typeface="Roboto"/>
              </a:rPr>
              <a:t>ARTIFICIAL INTELLIGENCE</a:t>
            </a:r>
            <a:endParaRPr b="1" i="0" sz="2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chemeClr val="lt1"/>
              </a:solidFill>
              <a:latin typeface="Roboto"/>
              <a:ea typeface="Roboto"/>
              <a:cs typeface="Roboto"/>
              <a:sym typeface="Roboto"/>
            </a:endParaRPr>
          </a:p>
        </p:txBody>
      </p:sp>
      <p:sp>
        <p:nvSpPr>
          <p:cNvPr id="87" name="Google Shape;87;p1"/>
          <p:cNvSpPr/>
          <p:nvPr/>
        </p:nvSpPr>
        <p:spPr>
          <a:xfrm>
            <a:off x="0" y="6489577"/>
            <a:ext cx="4572000" cy="368423"/>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p1"/>
          <p:cNvSpPr txBox="1"/>
          <p:nvPr/>
        </p:nvSpPr>
        <p:spPr>
          <a:xfrm>
            <a:off x="4767313" y="2775523"/>
            <a:ext cx="43767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1" i="0" lang="en-ZA" sz="2300" u="none" cap="none" strike="noStrike">
                <a:solidFill>
                  <a:srgbClr val="15284B"/>
                </a:solidFill>
                <a:latin typeface="Roboto"/>
                <a:ea typeface="Roboto"/>
                <a:cs typeface="Roboto"/>
                <a:sym typeface="Roboto"/>
              </a:rPr>
              <a:t>Office Hour #10 with </a:t>
            </a:r>
            <a:endParaRPr b="1" i="0" sz="2300" u="none" cap="none" strike="noStrike">
              <a:solidFill>
                <a:srgbClr val="15284B"/>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300"/>
              <a:buFont typeface="Arial"/>
              <a:buNone/>
            </a:pPr>
            <a:r>
              <a:rPr b="1" lang="en-ZA" sz="2300">
                <a:solidFill>
                  <a:srgbClr val="15284B"/>
                </a:solidFill>
                <a:latin typeface="Roboto"/>
                <a:ea typeface="Roboto"/>
                <a:cs typeface="Roboto"/>
                <a:sym typeface="Roboto"/>
              </a:rPr>
              <a:t>Ali</a:t>
            </a:r>
            <a:endParaRPr b="1" i="0" sz="2300" u="none" cap="none" strike="noStrike">
              <a:solidFill>
                <a:srgbClr val="15284B"/>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rPr lang="en-ZA" sz="2000">
                <a:solidFill>
                  <a:srgbClr val="15284B"/>
                </a:solidFill>
                <a:latin typeface="Roboto"/>
                <a:ea typeface="Roboto"/>
                <a:cs typeface="Roboto"/>
                <a:sym typeface="Roboto"/>
              </a:rPr>
              <a:t>Nov</a:t>
            </a:r>
            <a:r>
              <a:rPr b="0" i="0" lang="en-ZA" sz="2000" u="none" cap="none" strike="noStrike">
                <a:solidFill>
                  <a:srgbClr val="15284B"/>
                </a:solidFill>
                <a:latin typeface="Roboto"/>
                <a:ea typeface="Roboto"/>
                <a:cs typeface="Roboto"/>
                <a:sym typeface="Roboto"/>
              </a:rPr>
              <a:t> </a:t>
            </a:r>
            <a:r>
              <a:rPr lang="en-ZA" sz="2000">
                <a:solidFill>
                  <a:srgbClr val="15284B"/>
                </a:solidFill>
                <a:latin typeface="Roboto"/>
                <a:ea typeface="Roboto"/>
                <a:cs typeface="Roboto"/>
                <a:sym typeface="Roboto"/>
              </a:rPr>
              <a:t>10</a:t>
            </a:r>
            <a:r>
              <a:rPr b="0" i="0" lang="en-ZA" sz="2000" u="none" cap="none" strike="noStrike">
                <a:solidFill>
                  <a:srgbClr val="15284B"/>
                </a:solidFill>
                <a:latin typeface="Roboto"/>
                <a:ea typeface="Roboto"/>
                <a:cs typeface="Roboto"/>
                <a:sym typeface="Roboto"/>
              </a:rPr>
              <a:t>, 202</a:t>
            </a:r>
            <a:r>
              <a:rPr lang="en-ZA" sz="2000">
                <a:solidFill>
                  <a:srgbClr val="15284B"/>
                </a:solidFill>
                <a:latin typeface="Roboto"/>
                <a:ea typeface="Roboto"/>
                <a:cs typeface="Roboto"/>
                <a:sym typeface="Roboto"/>
              </a:rPr>
              <a:t>3</a:t>
            </a:r>
            <a:r>
              <a:rPr b="0" i="0" lang="en-ZA" sz="2000" u="none" cap="none" strike="noStrike">
                <a:solidFill>
                  <a:srgbClr val="15284B"/>
                </a:solidFill>
                <a:latin typeface="Roboto"/>
                <a:ea typeface="Roboto"/>
                <a:cs typeface="Roboto"/>
                <a:sym typeface="Roboto"/>
              </a:rPr>
              <a:t> at </a:t>
            </a:r>
            <a:r>
              <a:rPr lang="en-ZA" sz="2000">
                <a:solidFill>
                  <a:srgbClr val="15284B"/>
                </a:solidFill>
                <a:latin typeface="Roboto"/>
                <a:ea typeface="Roboto"/>
                <a:cs typeface="Roboto"/>
                <a:sym typeface="Roboto"/>
              </a:rPr>
              <a:t>3</a:t>
            </a:r>
            <a:r>
              <a:rPr b="0" i="0" lang="en-ZA" sz="2000" u="none" cap="none" strike="noStrike">
                <a:solidFill>
                  <a:srgbClr val="15284B"/>
                </a:solidFill>
                <a:latin typeface="Roboto"/>
                <a:ea typeface="Roboto"/>
                <a:cs typeface="Roboto"/>
                <a:sym typeface="Roboto"/>
              </a:rPr>
              <a:t> pm UTC</a:t>
            </a:r>
            <a:endParaRPr b="0" i="0" sz="2000" u="none" cap="none" strike="noStrike">
              <a:solidFill>
                <a:srgbClr val="15284B"/>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grpSp>
        <p:nvGrpSpPr>
          <p:cNvPr id="93" name="Google Shape;93;g12d80d25c50_0_0"/>
          <p:cNvGrpSpPr/>
          <p:nvPr/>
        </p:nvGrpSpPr>
        <p:grpSpPr>
          <a:xfrm>
            <a:off x="0" y="0"/>
            <a:ext cx="9144026" cy="1436645"/>
            <a:chOff x="0" y="0"/>
            <a:chExt cx="9144026" cy="1436645"/>
          </a:xfrm>
        </p:grpSpPr>
        <p:grpSp>
          <p:nvGrpSpPr>
            <p:cNvPr id="94" name="Google Shape;94;g12d80d25c50_0_0"/>
            <p:cNvGrpSpPr/>
            <p:nvPr/>
          </p:nvGrpSpPr>
          <p:grpSpPr>
            <a:xfrm>
              <a:off x="0" y="0"/>
              <a:ext cx="9144026" cy="896700"/>
              <a:chOff x="0" y="0"/>
              <a:chExt cx="9144026" cy="896700"/>
            </a:xfrm>
          </p:grpSpPr>
          <p:sp>
            <p:nvSpPr>
              <p:cNvPr id="95" name="Google Shape;95;g12d80d25c50_0_0"/>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96" name="Google Shape;96;g12d80d25c50_0_0"/>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97" name="Google Shape;97;g12d80d25c50_0_0"/>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98" name="Google Shape;98;g12d80d25c50_0_0"/>
            <p:cNvGrpSpPr/>
            <p:nvPr/>
          </p:nvGrpSpPr>
          <p:grpSpPr>
            <a:xfrm>
              <a:off x="0" y="896645"/>
              <a:ext cx="9144000" cy="540000"/>
              <a:chOff x="0" y="896645"/>
              <a:chExt cx="9144000" cy="540000"/>
            </a:xfrm>
          </p:grpSpPr>
          <p:sp>
            <p:nvSpPr>
              <p:cNvPr id="99" name="Google Shape;99;g12d80d25c50_0_0"/>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 name="Google Shape;100;g12d80d25c50_0_0"/>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Time Series &amp; Forecasting</a:t>
                </a:r>
                <a:endParaRPr b="0" i="0" sz="1400" u="none" cap="none" strike="noStrike">
                  <a:solidFill>
                    <a:srgbClr val="000000"/>
                  </a:solidFill>
                  <a:latin typeface="Arial"/>
                  <a:ea typeface="Arial"/>
                  <a:cs typeface="Arial"/>
                  <a:sym typeface="Arial"/>
                </a:endParaRPr>
              </a:p>
            </p:txBody>
          </p:sp>
        </p:grpSp>
      </p:grpSp>
      <p:sp>
        <p:nvSpPr>
          <p:cNvPr id="101" name="Google Shape;101;g12d80d25c50_0_0"/>
          <p:cNvSpPr txBox="1"/>
          <p:nvPr/>
        </p:nvSpPr>
        <p:spPr>
          <a:xfrm>
            <a:off x="217500" y="1530150"/>
            <a:ext cx="5000100" cy="54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400"/>
              </a:spcBef>
              <a:spcAft>
                <a:spcPts val="0"/>
              </a:spcAft>
              <a:buClr>
                <a:srgbClr val="000000"/>
              </a:buClr>
              <a:buSzPts val="1150"/>
              <a:buFont typeface="Arial"/>
              <a:buNone/>
            </a:pPr>
            <a:r>
              <a:rPr b="0" i="0" lang="en-ZA" sz="1200" u="none" cap="none" strike="noStrike">
                <a:solidFill>
                  <a:srgbClr val="333333"/>
                </a:solidFill>
                <a:latin typeface="Merriweather"/>
                <a:ea typeface="Merriweather"/>
                <a:cs typeface="Merriweather"/>
                <a:sym typeface="Merriweather"/>
              </a:rPr>
              <a:t>Time series forecasting occurs when you make </a:t>
            </a:r>
            <a:r>
              <a:rPr b="1" i="0" lang="en-ZA" sz="1200" u="none" cap="none" strike="noStrike">
                <a:solidFill>
                  <a:srgbClr val="FF0000"/>
                </a:solidFill>
                <a:latin typeface="Merriweather"/>
                <a:ea typeface="Merriweather"/>
                <a:cs typeface="Merriweather"/>
                <a:sym typeface="Merriweather"/>
              </a:rPr>
              <a:t>scientific predictions based on historical time stamped data</a:t>
            </a:r>
            <a:r>
              <a:rPr b="0" i="0" lang="en-ZA" sz="1200" u="none" cap="none" strike="noStrike">
                <a:solidFill>
                  <a:srgbClr val="333333"/>
                </a:solidFill>
                <a:latin typeface="Merriweather"/>
                <a:ea typeface="Merriweather"/>
                <a:cs typeface="Merriweather"/>
                <a:sym typeface="Merriweather"/>
              </a:rPr>
              <a:t>. It involves building models through historical analysis and using them to make observations and drive future strategic decision-making.</a:t>
            </a:r>
            <a:endParaRPr b="0" i="0" sz="1200" u="none" cap="none" strike="noStrike">
              <a:solidFill>
                <a:srgbClr val="333333"/>
              </a:solidFill>
              <a:latin typeface="Merriweather"/>
              <a:ea typeface="Merriweather"/>
              <a:cs typeface="Merriweather"/>
              <a:sym typeface="Merriweather"/>
            </a:endParaRPr>
          </a:p>
          <a:p>
            <a:pPr indent="0" lvl="0" marL="0" marR="0" rtl="0" algn="l">
              <a:lnSpc>
                <a:spcPct val="150000"/>
              </a:lnSpc>
              <a:spcBef>
                <a:spcPts val="1400"/>
              </a:spcBef>
              <a:spcAft>
                <a:spcPts val="0"/>
              </a:spcAft>
              <a:buClr>
                <a:srgbClr val="000000"/>
              </a:buClr>
              <a:buSzPts val="1150"/>
              <a:buFont typeface="Arial"/>
              <a:buNone/>
            </a:pPr>
            <a:r>
              <a:rPr b="0" i="0" lang="en-ZA" sz="1200" u="none" cap="none" strike="noStrike">
                <a:solidFill>
                  <a:srgbClr val="333333"/>
                </a:solidFill>
                <a:latin typeface="Merriweather"/>
                <a:ea typeface="Merriweather"/>
                <a:cs typeface="Merriweather"/>
                <a:sym typeface="Merriweather"/>
              </a:rPr>
              <a:t>Time series analysis involves developing models to gain an understanding of the data to understand the underlying causes. Analysis can provide the </a:t>
            </a:r>
            <a:r>
              <a:rPr b="1" i="0" lang="en-ZA" sz="1200" u="none" cap="none" strike="noStrike">
                <a:solidFill>
                  <a:srgbClr val="FF0000"/>
                </a:solidFill>
                <a:latin typeface="Merriweather"/>
                <a:ea typeface="Merriweather"/>
                <a:cs typeface="Merriweather"/>
                <a:sym typeface="Merriweather"/>
              </a:rPr>
              <a:t>“why”</a:t>
            </a:r>
            <a:r>
              <a:rPr b="0" i="0" lang="en-ZA" sz="1200" u="none" cap="none" strike="noStrike">
                <a:solidFill>
                  <a:srgbClr val="333333"/>
                </a:solidFill>
                <a:latin typeface="Merriweather"/>
                <a:ea typeface="Merriweather"/>
                <a:cs typeface="Merriweather"/>
                <a:sym typeface="Merriweather"/>
              </a:rPr>
              <a:t> behind the outcomes you are seeing. Forecasting then takes the next step of what to do with that knowledge and the predictable extrapolations of what might happen in the future.</a:t>
            </a:r>
            <a:endParaRPr b="0" i="0" sz="1200" u="none" cap="none" strike="noStrike">
              <a:solidFill>
                <a:srgbClr val="333333"/>
              </a:solidFill>
              <a:latin typeface="Merriweather"/>
              <a:ea typeface="Merriweather"/>
              <a:cs typeface="Merriweather"/>
              <a:sym typeface="Merriweather"/>
            </a:endParaRPr>
          </a:p>
          <a:p>
            <a:pPr indent="0" lvl="0" marL="0" marR="0" rtl="0" algn="l">
              <a:lnSpc>
                <a:spcPct val="150000"/>
              </a:lnSpc>
              <a:spcBef>
                <a:spcPts val="1400"/>
              </a:spcBef>
              <a:spcAft>
                <a:spcPts val="1400"/>
              </a:spcAft>
              <a:buClr>
                <a:srgbClr val="000000"/>
              </a:buClr>
              <a:buSzPts val="1150"/>
              <a:buFont typeface="Arial"/>
              <a:buNone/>
            </a:pPr>
            <a:r>
              <a:rPr b="0" i="0" lang="en-ZA" sz="1200" u="none" cap="none" strike="noStrike">
                <a:solidFill>
                  <a:srgbClr val="333333"/>
                </a:solidFill>
                <a:latin typeface="Merriweather"/>
                <a:ea typeface="Merriweather"/>
                <a:cs typeface="Merriweather"/>
                <a:sym typeface="Merriweather"/>
              </a:rPr>
              <a:t>Data teams should use time series forecasting when they </a:t>
            </a:r>
            <a:r>
              <a:rPr b="1" i="0" lang="en-ZA" sz="1200" u="none" cap="none" strike="noStrike">
                <a:solidFill>
                  <a:srgbClr val="FF0000"/>
                </a:solidFill>
                <a:latin typeface="Merriweather"/>
                <a:ea typeface="Merriweather"/>
                <a:cs typeface="Merriweather"/>
                <a:sym typeface="Merriweather"/>
              </a:rPr>
              <a:t>understand the business question and have the appropriate data and forecasting capabilities</a:t>
            </a:r>
            <a:r>
              <a:rPr b="0" i="0" lang="en-ZA" sz="1200" u="none" cap="none" strike="noStrike">
                <a:solidFill>
                  <a:srgbClr val="333333"/>
                </a:solidFill>
                <a:latin typeface="Merriweather"/>
                <a:ea typeface="Merriweather"/>
                <a:cs typeface="Merriweather"/>
                <a:sym typeface="Merriweather"/>
              </a:rPr>
              <a:t> to answer that question. Good forecasting works with </a:t>
            </a:r>
            <a:r>
              <a:rPr b="0" i="0" lang="en-ZA" sz="1200" u="sng" cap="none" strike="noStrike">
                <a:solidFill>
                  <a:srgbClr val="333333"/>
                </a:solidFill>
                <a:latin typeface="Merriweather"/>
                <a:ea typeface="Merriweather"/>
                <a:cs typeface="Merriweather"/>
                <a:sym typeface="Merriweather"/>
              </a:rPr>
              <a:t>clean, time stamped data</a:t>
            </a:r>
            <a:r>
              <a:rPr b="0" i="0" lang="en-ZA" sz="1200" u="none" cap="none" strike="noStrike">
                <a:solidFill>
                  <a:srgbClr val="333333"/>
                </a:solidFill>
                <a:latin typeface="Merriweather"/>
                <a:ea typeface="Merriweather"/>
                <a:cs typeface="Merriweather"/>
                <a:sym typeface="Merriweather"/>
              </a:rPr>
              <a:t> and can identify the genuine trends and patterns in historical data. Analysts can tell the d</a:t>
            </a:r>
            <a:r>
              <a:rPr b="0" i="0" lang="en-ZA" sz="1200" u="sng" cap="none" strike="noStrike">
                <a:solidFill>
                  <a:srgbClr val="333333"/>
                </a:solidFill>
                <a:latin typeface="Merriweather"/>
                <a:ea typeface="Merriweather"/>
                <a:cs typeface="Merriweather"/>
                <a:sym typeface="Merriweather"/>
              </a:rPr>
              <a:t>ifference between random fluctuations or outliers, and can separate genuine insights from seasonal variations</a:t>
            </a:r>
            <a:r>
              <a:rPr b="0" i="0" lang="en-ZA" sz="1200" u="none" cap="none" strike="noStrike">
                <a:solidFill>
                  <a:srgbClr val="333333"/>
                </a:solidFill>
                <a:latin typeface="Merriweather"/>
                <a:ea typeface="Merriweather"/>
                <a:cs typeface="Merriweather"/>
                <a:sym typeface="Merriweather"/>
              </a:rPr>
              <a:t>.</a:t>
            </a:r>
            <a:endParaRPr b="0" i="0" sz="1200" u="none" cap="none" strike="noStrike">
              <a:solidFill>
                <a:srgbClr val="333333"/>
              </a:solidFill>
              <a:latin typeface="Merriweather"/>
              <a:ea typeface="Merriweather"/>
              <a:cs typeface="Merriweather"/>
              <a:sym typeface="Merriweather"/>
            </a:endParaRPr>
          </a:p>
        </p:txBody>
      </p:sp>
      <p:pic>
        <p:nvPicPr>
          <p:cNvPr id="102" name="Google Shape;102;g12d80d25c50_0_0"/>
          <p:cNvPicPr preferRelativeResize="0"/>
          <p:nvPr/>
        </p:nvPicPr>
        <p:blipFill rotWithShape="1">
          <a:blip r:embed="rId4">
            <a:alphaModFix/>
          </a:blip>
          <a:srcRect b="0" l="0" r="0" t="0"/>
          <a:stretch/>
        </p:blipFill>
        <p:spPr>
          <a:xfrm>
            <a:off x="5376675" y="2963025"/>
            <a:ext cx="3617201" cy="218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g12d80d25c50_0_23"/>
          <p:cNvGrpSpPr/>
          <p:nvPr/>
        </p:nvGrpSpPr>
        <p:grpSpPr>
          <a:xfrm>
            <a:off x="0" y="0"/>
            <a:ext cx="9144026" cy="1436645"/>
            <a:chOff x="0" y="0"/>
            <a:chExt cx="9144026" cy="1436645"/>
          </a:xfrm>
        </p:grpSpPr>
        <p:grpSp>
          <p:nvGrpSpPr>
            <p:cNvPr id="108" name="Google Shape;108;g12d80d25c50_0_23"/>
            <p:cNvGrpSpPr/>
            <p:nvPr/>
          </p:nvGrpSpPr>
          <p:grpSpPr>
            <a:xfrm>
              <a:off x="0" y="0"/>
              <a:ext cx="9144026" cy="896700"/>
              <a:chOff x="0" y="0"/>
              <a:chExt cx="9144026" cy="896700"/>
            </a:xfrm>
          </p:grpSpPr>
          <p:sp>
            <p:nvSpPr>
              <p:cNvPr id="109" name="Google Shape;109;g12d80d25c50_0_23"/>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10" name="Google Shape;110;g12d80d25c50_0_23"/>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11" name="Google Shape;111;g12d80d25c50_0_23"/>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12" name="Google Shape;112;g12d80d25c50_0_23"/>
            <p:cNvGrpSpPr/>
            <p:nvPr/>
          </p:nvGrpSpPr>
          <p:grpSpPr>
            <a:xfrm>
              <a:off x="0" y="896645"/>
              <a:ext cx="9144000" cy="540000"/>
              <a:chOff x="0" y="896645"/>
              <a:chExt cx="9144000" cy="540000"/>
            </a:xfrm>
          </p:grpSpPr>
          <p:sp>
            <p:nvSpPr>
              <p:cNvPr id="113" name="Google Shape;113;g12d80d25c50_0_23"/>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g12d80d25c50_0_23"/>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Time Series &amp; Forecasting</a:t>
                </a:r>
                <a:endParaRPr b="0" i="0" sz="1400" u="none" cap="none" strike="noStrike">
                  <a:solidFill>
                    <a:srgbClr val="000000"/>
                  </a:solidFill>
                  <a:latin typeface="Arial"/>
                  <a:ea typeface="Arial"/>
                  <a:cs typeface="Arial"/>
                  <a:sym typeface="Arial"/>
                </a:endParaRPr>
              </a:p>
            </p:txBody>
          </p:sp>
        </p:grpSp>
      </p:grpSp>
      <p:pic>
        <p:nvPicPr>
          <p:cNvPr id="115" name="Google Shape;115;g12d80d25c50_0_23"/>
          <p:cNvPicPr preferRelativeResize="0"/>
          <p:nvPr/>
        </p:nvPicPr>
        <p:blipFill rotWithShape="1">
          <a:blip r:embed="rId4">
            <a:alphaModFix/>
          </a:blip>
          <a:srcRect b="0" l="0" r="0" t="0"/>
          <a:stretch/>
        </p:blipFill>
        <p:spPr>
          <a:xfrm>
            <a:off x="701275" y="1624470"/>
            <a:ext cx="6781800" cy="4124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grpSp>
        <p:nvGrpSpPr>
          <p:cNvPr id="120" name="Google Shape;120;g127fd37c798_0_103"/>
          <p:cNvGrpSpPr/>
          <p:nvPr/>
        </p:nvGrpSpPr>
        <p:grpSpPr>
          <a:xfrm>
            <a:off x="0" y="0"/>
            <a:ext cx="9144026" cy="1436645"/>
            <a:chOff x="0" y="0"/>
            <a:chExt cx="9144026" cy="1436645"/>
          </a:xfrm>
        </p:grpSpPr>
        <p:grpSp>
          <p:nvGrpSpPr>
            <p:cNvPr id="121" name="Google Shape;121;g127fd37c798_0_103"/>
            <p:cNvGrpSpPr/>
            <p:nvPr/>
          </p:nvGrpSpPr>
          <p:grpSpPr>
            <a:xfrm>
              <a:off x="0" y="0"/>
              <a:ext cx="9144026" cy="896700"/>
              <a:chOff x="0" y="0"/>
              <a:chExt cx="9144026" cy="896700"/>
            </a:xfrm>
          </p:grpSpPr>
          <p:sp>
            <p:nvSpPr>
              <p:cNvPr id="122" name="Google Shape;122;g127fd37c798_0_103"/>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23" name="Google Shape;123;g127fd37c798_0_103"/>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24" name="Google Shape;124;g127fd37c798_0_103"/>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25" name="Google Shape;125;g127fd37c798_0_103"/>
            <p:cNvGrpSpPr/>
            <p:nvPr/>
          </p:nvGrpSpPr>
          <p:grpSpPr>
            <a:xfrm>
              <a:off x="0" y="896645"/>
              <a:ext cx="9144000" cy="540000"/>
              <a:chOff x="0" y="896645"/>
              <a:chExt cx="9144000" cy="540000"/>
            </a:xfrm>
          </p:grpSpPr>
          <p:sp>
            <p:nvSpPr>
              <p:cNvPr id="126" name="Google Shape;126;g127fd37c798_0_103"/>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g127fd37c798_0_103"/>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Tips for Good Forecasting</a:t>
                </a:r>
                <a:endParaRPr b="0" i="0" sz="1400" u="none" cap="none" strike="noStrike">
                  <a:solidFill>
                    <a:srgbClr val="000000"/>
                  </a:solidFill>
                  <a:latin typeface="Arial"/>
                  <a:ea typeface="Arial"/>
                  <a:cs typeface="Arial"/>
                  <a:sym typeface="Arial"/>
                </a:endParaRPr>
              </a:p>
            </p:txBody>
          </p:sp>
        </p:grpSp>
      </p:grpSp>
      <p:sp>
        <p:nvSpPr>
          <p:cNvPr id="128" name="Google Shape;128;g127fd37c798_0_103"/>
          <p:cNvSpPr txBox="1"/>
          <p:nvPr/>
        </p:nvSpPr>
        <p:spPr>
          <a:xfrm>
            <a:off x="100325" y="1436650"/>
            <a:ext cx="5235300" cy="5391300"/>
          </a:xfrm>
          <a:prstGeom prst="rect">
            <a:avLst/>
          </a:prstGeom>
          <a:noFill/>
          <a:ln>
            <a:noFill/>
          </a:ln>
        </p:spPr>
        <p:txBody>
          <a:bodyPr anchorCtr="0" anchor="t" bIns="91425" lIns="91425" spcFirstLastPara="1" rIns="91425" wrap="square" tIns="91425">
            <a:spAutoFit/>
          </a:bodyPr>
          <a:lstStyle/>
          <a:p>
            <a:pPr indent="-298450" lvl="0" marL="749300" marR="0" rtl="0" algn="l">
              <a:lnSpc>
                <a:spcPct val="175000"/>
              </a:lnSpc>
              <a:spcBef>
                <a:spcPts val="3200"/>
              </a:spcBef>
              <a:spcAft>
                <a:spcPts val="0"/>
              </a:spcAft>
              <a:buClr>
                <a:srgbClr val="292929"/>
              </a:buClr>
              <a:buSzPts val="1100"/>
              <a:buFont typeface="Georgia"/>
              <a:buAutoNum type="arabicPeriod"/>
            </a:pPr>
            <a:r>
              <a:rPr b="1" i="0" lang="en-ZA" sz="1100" u="none" cap="none" strike="noStrike">
                <a:solidFill>
                  <a:srgbClr val="292929"/>
                </a:solidFill>
                <a:highlight>
                  <a:srgbClr val="FFFFFF"/>
                </a:highlight>
                <a:latin typeface="Georgia"/>
                <a:ea typeface="Georgia"/>
                <a:cs typeface="Georgia"/>
                <a:sym typeface="Georgia"/>
              </a:rPr>
              <a:t>Granularity</a:t>
            </a:r>
            <a:r>
              <a:rPr b="0" i="0" lang="en-ZA" sz="1100" u="none" cap="none" strike="noStrike">
                <a:solidFill>
                  <a:srgbClr val="292929"/>
                </a:solidFill>
                <a:highlight>
                  <a:srgbClr val="FFFFFF"/>
                </a:highlight>
                <a:latin typeface="Georgia"/>
                <a:ea typeface="Georgia"/>
                <a:cs typeface="Georgia"/>
                <a:sym typeface="Georgia"/>
              </a:rPr>
              <a:t>: More aggregated your forecast is more accurate you will be. Its simply because aggregated data has less variance and thus less noise. For example: If we want to predict airline passengers for next month, then forecasting the total number of travellers next month will be more accurate than forecasting travellers on a specific route. Again this is all derived by business requirement.</a:t>
            </a:r>
            <a:endParaRPr b="0" i="0" sz="1100" u="none" cap="none" strike="noStrike">
              <a:solidFill>
                <a:srgbClr val="292929"/>
              </a:solidFill>
              <a:highlight>
                <a:srgbClr val="FFFFFF"/>
              </a:highlight>
              <a:latin typeface="Georgia"/>
              <a:ea typeface="Georgia"/>
              <a:cs typeface="Georgia"/>
              <a:sym typeface="Georgia"/>
            </a:endParaRPr>
          </a:p>
          <a:p>
            <a:pPr indent="-298450" lvl="0" marL="749300" marR="0" rtl="0" algn="l">
              <a:lnSpc>
                <a:spcPct val="175000"/>
              </a:lnSpc>
              <a:spcBef>
                <a:spcPts val="0"/>
              </a:spcBef>
              <a:spcAft>
                <a:spcPts val="0"/>
              </a:spcAft>
              <a:buClr>
                <a:srgbClr val="292929"/>
              </a:buClr>
              <a:buSzPts val="1100"/>
              <a:buFont typeface="Georgia"/>
              <a:buAutoNum type="arabicPeriod"/>
            </a:pPr>
            <a:r>
              <a:rPr b="1" i="0" lang="en-ZA" sz="1100" u="none" cap="none" strike="noStrike">
                <a:solidFill>
                  <a:srgbClr val="292929"/>
                </a:solidFill>
                <a:highlight>
                  <a:srgbClr val="FFFFFF"/>
                </a:highlight>
                <a:latin typeface="Georgia"/>
                <a:ea typeface="Georgia"/>
                <a:cs typeface="Georgia"/>
                <a:sym typeface="Georgia"/>
              </a:rPr>
              <a:t>Frequency</a:t>
            </a:r>
            <a:r>
              <a:rPr b="0" i="0" lang="en-ZA" sz="1100" u="none" cap="none" strike="noStrike">
                <a:solidFill>
                  <a:srgbClr val="292929"/>
                </a:solidFill>
                <a:highlight>
                  <a:srgbClr val="FFFFFF"/>
                </a:highlight>
                <a:latin typeface="Georgia"/>
                <a:ea typeface="Georgia"/>
                <a:cs typeface="Georgia"/>
                <a:sym typeface="Georgia"/>
              </a:rPr>
              <a:t>: How frequent you want to update your forecasts to keep them relevant. As time passes, we add more information (maybe new information) which needs to be incorporated to keep predictions relevant. Let's say we want to forecast the number of TV views and frequency of updating forecast is 3 months. Due to COVID-19, people are locked in their houses for 2–3 months and has increased TV views significantly during this time. We might miss this opportunity because the frequency of forecast update is more than event duration.</a:t>
            </a:r>
            <a:endParaRPr b="0" i="0" sz="1100" u="none" cap="none" strike="noStrike">
              <a:solidFill>
                <a:srgbClr val="292929"/>
              </a:solidFill>
              <a:highlight>
                <a:srgbClr val="FFFFFF"/>
              </a:highlight>
              <a:latin typeface="Georgia"/>
              <a:ea typeface="Georgia"/>
              <a:cs typeface="Georgia"/>
              <a:sym typeface="Georgia"/>
            </a:endParaRPr>
          </a:p>
          <a:p>
            <a:pPr indent="-298450" lvl="0" marL="749300" marR="0" rtl="0" algn="l">
              <a:lnSpc>
                <a:spcPct val="175000"/>
              </a:lnSpc>
              <a:spcBef>
                <a:spcPts val="0"/>
              </a:spcBef>
              <a:spcAft>
                <a:spcPts val="0"/>
              </a:spcAft>
              <a:buClr>
                <a:srgbClr val="292929"/>
              </a:buClr>
              <a:buSzPts val="1100"/>
              <a:buFont typeface="Georgia"/>
              <a:buAutoNum type="arabicPeriod"/>
            </a:pPr>
            <a:r>
              <a:rPr b="1" i="0" lang="en-ZA" sz="1100" u="none" cap="none" strike="noStrike">
                <a:solidFill>
                  <a:srgbClr val="292929"/>
                </a:solidFill>
                <a:highlight>
                  <a:srgbClr val="FFFFFF"/>
                </a:highlight>
                <a:latin typeface="Georgia"/>
                <a:ea typeface="Georgia"/>
                <a:cs typeface="Georgia"/>
                <a:sym typeface="Georgia"/>
              </a:rPr>
              <a:t>Horizon</a:t>
            </a:r>
            <a:r>
              <a:rPr b="0" i="0" lang="en-ZA" sz="1100" u="none" cap="none" strike="noStrike">
                <a:solidFill>
                  <a:srgbClr val="292929"/>
                </a:solidFill>
                <a:highlight>
                  <a:srgbClr val="FFFFFF"/>
                </a:highlight>
                <a:latin typeface="Georgia"/>
                <a:ea typeface="Georgia"/>
                <a:cs typeface="Georgia"/>
                <a:sym typeface="Georgia"/>
              </a:rPr>
              <a:t>: Forecasts in earlier time frame are more accurate than far future. Say we are forecasting for the next 6 months sales, it will be more accurate in the first few months as compared to later months in future</a:t>
            </a:r>
            <a:endParaRPr b="0" i="0" sz="1100" u="none" cap="none" strike="noStrike">
              <a:solidFill>
                <a:srgbClr val="292929"/>
              </a:solidFill>
              <a:highlight>
                <a:srgbClr val="FFFFFF"/>
              </a:highlight>
              <a:latin typeface="Georgia"/>
              <a:ea typeface="Georgia"/>
              <a:cs typeface="Georgia"/>
              <a:sym typeface="Georgia"/>
            </a:endParaRPr>
          </a:p>
        </p:txBody>
      </p:sp>
      <p:pic>
        <p:nvPicPr>
          <p:cNvPr id="129" name="Google Shape;129;g127fd37c798_0_103"/>
          <p:cNvPicPr preferRelativeResize="0"/>
          <p:nvPr/>
        </p:nvPicPr>
        <p:blipFill rotWithShape="1">
          <a:blip r:embed="rId4">
            <a:alphaModFix/>
          </a:blip>
          <a:srcRect b="0" l="0" r="0" t="0"/>
          <a:stretch/>
        </p:blipFill>
        <p:spPr>
          <a:xfrm>
            <a:off x="5711975" y="2639626"/>
            <a:ext cx="3188450" cy="2164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g12d80d25c50_0_40"/>
          <p:cNvGrpSpPr/>
          <p:nvPr/>
        </p:nvGrpSpPr>
        <p:grpSpPr>
          <a:xfrm>
            <a:off x="0" y="0"/>
            <a:ext cx="9144026" cy="1436645"/>
            <a:chOff x="0" y="0"/>
            <a:chExt cx="9144026" cy="1436645"/>
          </a:xfrm>
        </p:grpSpPr>
        <p:grpSp>
          <p:nvGrpSpPr>
            <p:cNvPr id="135" name="Google Shape;135;g12d80d25c50_0_40"/>
            <p:cNvGrpSpPr/>
            <p:nvPr/>
          </p:nvGrpSpPr>
          <p:grpSpPr>
            <a:xfrm>
              <a:off x="0" y="0"/>
              <a:ext cx="9144026" cy="896700"/>
              <a:chOff x="0" y="0"/>
              <a:chExt cx="9144026" cy="896700"/>
            </a:xfrm>
          </p:grpSpPr>
          <p:sp>
            <p:nvSpPr>
              <p:cNvPr id="136" name="Google Shape;136;g12d80d25c50_0_40"/>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37" name="Google Shape;137;g12d80d25c50_0_40"/>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38" name="Google Shape;138;g12d80d25c50_0_40"/>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39" name="Google Shape;139;g12d80d25c50_0_40"/>
            <p:cNvGrpSpPr/>
            <p:nvPr/>
          </p:nvGrpSpPr>
          <p:grpSpPr>
            <a:xfrm>
              <a:off x="0" y="896645"/>
              <a:ext cx="9144000" cy="540000"/>
              <a:chOff x="0" y="896645"/>
              <a:chExt cx="9144000" cy="540000"/>
            </a:xfrm>
          </p:grpSpPr>
          <p:sp>
            <p:nvSpPr>
              <p:cNvPr id="140" name="Google Shape;140;g12d80d25c50_0_40"/>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g12d80d25c50_0_40"/>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Autocorrelation</a:t>
                </a:r>
                <a:endParaRPr b="0" i="0" sz="1400" u="none" cap="none" strike="noStrike">
                  <a:solidFill>
                    <a:srgbClr val="000000"/>
                  </a:solidFill>
                  <a:latin typeface="Arial"/>
                  <a:ea typeface="Arial"/>
                  <a:cs typeface="Arial"/>
                  <a:sym typeface="Arial"/>
                </a:endParaRPr>
              </a:p>
            </p:txBody>
          </p:sp>
        </p:grpSp>
      </p:grpSp>
      <p:sp>
        <p:nvSpPr>
          <p:cNvPr id="142" name="Google Shape;142;g12d80d25c50_0_40"/>
          <p:cNvSpPr txBox="1"/>
          <p:nvPr/>
        </p:nvSpPr>
        <p:spPr>
          <a:xfrm>
            <a:off x="1976725" y="1953450"/>
            <a:ext cx="4615800" cy="1417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Autocorrelation represents the degree of similarity between a given time series and a lagged version of itself over successive time intervals.</a:t>
            </a:r>
            <a:endParaRPr b="0" i="0" sz="1800" u="none" cap="none" strike="noStrike">
              <a:solidFill>
                <a:srgbClr val="111111"/>
              </a:solidFill>
              <a:highlight>
                <a:srgbClr val="FFFFFF"/>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g2745014f3d5_0_6"/>
          <p:cNvGrpSpPr/>
          <p:nvPr/>
        </p:nvGrpSpPr>
        <p:grpSpPr>
          <a:xfrm>
            <a:off x="0" y="0"/>
            <a:ext cx="9144026" cy="1436645"/>
            <a:chOff x="0" y="0"/>
            <a:chExt cx="9144026" cy="1436645"/>
          </a:xfrm>
        </p:grpSpPr>
        <p:grpSp>
          <p:nvGrpSpPr>
            <p:cNvPr id="148" name="Google Shape;148;g2745014f3d5_0_6"/>
            <p:cNvGrpSpPr/>
            <p:nvPr/>
          </p:nvGrpSpPr>
          <p:grpSpPr>
            <a:xfrm>
              <a:off x="0" y="0"/>
              <a:ext cx="9144026" cy="896700"/>
              <a:chOff x="0" y="0"/>
              <a:chExt cx="9144026" cy="896700"/>
            </a:xfrm>
          </p:grpSpPr>
          <p:sp>
            <p:nvSpPr>
              <p:cNvPr id="149" name="Google Shape;149;g2745014f3d5_0_6"/>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50" name="Google Shape;150;g2745014f3d5_0_6"/>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51" name="Google Shape;151;g2745014f3d5_0_6"/>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52" name="Google Shape;152;g2745014f3d5_0_6"/>
            <p:cNvGrpSpPr/>
            <p:nvPr/>
          </p:nvGrpSpPr>
          <p:grpSpPr>
            <a:xfrm>
              <a:off x="0" y="896645"/>
              <a:ext cx="9144000" cy="540000"/>
              <a:chOff x="0" y="896645"/>
              <a:chExt cx="9144000" cy="540000"/>
            </a:xfrm>
          </p:grpSpPr>
          <p:sp>
            <p:nvSpPr>
              <p:cNvPr id="153" name="Google Shape;153;g2745014f3d5_0_6"/>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g2745014f3d5_0_6"/>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Autocorrelation</a:t>
                </a:r>
                <a:endParaRPr b="0" i="0" sz="1400" u="none" cap="none" strike="noStrike">
                  <a:solidFill>
                    <a:srgbClr val="000000"/>
                  </a:solidFill>
                  <a:latin typeface="Arial"/>
                  <a:ea typeface="Arial"/>
                  <a:cs typeface="Arial"/>
                  <a:sym typeface="Arial"/>
                </a:endParaRPr>
              </a:p>
            </p:txBody>
          </p:sp>
        </p:grpSp>
      </p:grpSp>
      <p:sp>
        <p:nvSpPr>
          <p:cNvPr id="155" name="Google Shape;155;g2745014f3d5_0_6"/>
          <p:cNvSpPr txBox="1"/>
          <p:nvPr/>
        </p:nvSpPr>
        <p:spPr>
          <a:xfrm>
            <a:off x="1976725" y="1953450"/>
            <a:ext cx="4615800" cy="2692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Autocorrelation represents the degree of similarity between a given time series and a lagged version of itself over successive time intervals.</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Autocorrelation measures the relationship between a variable's current value and its past values.</a:t>
            </a:r>
            <a:endParaRPr b="0" i="0" sz="1800" u="none" cap="none" strike="noStrike">
              <a:solidFill>
                <a:srgbClr val="111111"/>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g2745014f3d5_0_18"/>
          <p:cNvGrpSpPr/>
          <p:nvPr/>
        </p:nvGrpSpPr>
        <p:grpSpPr>
          <a:xfrm>
            <a:off x="0" y="0"/>
            <a:ext cx="9144026" cy="1436645"/>
            <a:chOff x="0" y="0"/>
            <a:chExt cx="9144026" cy="1436645"/>
          </a:xfrm>
        </p:grpSpPr>
        <p:grpSp>
          <p:nvGrpSpPr>
            <p:cNvPr id="161" name="Google Shape;161;g2745014f3d5_0_18"/>
            <p:cNvGrpSpPr/>
            <p:nvPr/>
          </p:nvGrpSpPr>
          <p:grpSpPr>
            <a:xfrm>
              <a:off x="0" y="0"/>
              <a:ext cx="9144026" cy="896700"/>
              <a:chOff x="0" y="0"/>
              <a:chExt cx="9144026" cy="896700"/>
            </a:xfrm>
          </p:grpSpPr>
          <p:sp>
            <p:nvSpPr>
              <p:cNvPr id="162" name="Google Shape;162;g2745014f3d5_0_18"/>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63" name="Google Shape;163;g2745014f3d5_0_18"/>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64" name="Google Shape;164;g2745014f3d5_0_18"/>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65" name="Google Shape;165;g2745014f3d5_0_18"/>
            <p:cNvGrpSpPr/>
            <p:nvPr/>
          </p:nvGrpSpPr>
          <p:grpSpPr>
            <a:xfrm>
              <a:off x="0" y="896645"/>
              <a:ext cx="9144000" cy="540000"/>
              <a:chOff x="0" y="896645"/>
              <a:chExt cx="9144000" cy="540000"/>
            </a:xfrm>
          </p:grpSpPr>
          <p:sp>
            <p:nvSpPr>
              <p:cNvPr id="166" name="Google Shape;166;g2745014f3d5_0_18"/>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g2745014f3d5_0_18"/>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Autocorrelation</a:t>
                </a:r>
                <a:endParaRPr b="0" i="0" sz="1400" u="none" cap="none" strike="noStrike">
                  <a:solidFill>
                    <a:srgbClr val="000000"/>
                  </a:solidFill>
                  <a:latin typeface="Arial"/>
                  <a:ea typeface="Arial"/>
                  <a:cs typeface="Arial"/>
                  <a:sym typeface="Arial"/>
                </a:endParaRPr>
              </a:p>
            </p:txBody>
          </p:sp>
        </p:grpSp>
      </p:grpSp>
      <p:sp>
        <p:nvSpPr>
          <p:cNvPr id="168" name="Google Shape;168;g2745014f3d5_0_18"/>
          <p:cNvSpPr txBox="1"/>
          <p:nvPr/>
        </p:nvSpPr>
        <p:spPr>
          <a:xfrm>
            <a:off x="1976725" y="1953450"/>
            <a:ext cx="4615800" cy="3966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Autocorrelation represents the degree of similarity between a given time series and a lagged version of itself over successive time intervals.</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Autocorrelation measures the relationship between a variable's current value and its past values.</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t/>
            </a:r>
            <a:endParaRPr b="0" i="0" sz="1800" u="none" cap="none" strike="noStrike">
              <a:solidFill>
                <a:srgbClr val="111111"/>
              </a:solidFill>
              <a:highlight>
                <a:srgbClr val="FFFFFF"/>
              </a:highlight>
              <a:latin typeface="Arial"/>
              <a:ea typeface="Arial"/>
              <a:cs typeface="Arial"/>
              <a:sym typeface="Arial"/>
            </a:endParaRPr>
          </a:p>
          <a:p>
            <a:pPr indent="0" lvl="0" marL="0" marR="0" rtl="0" algn="ctr">
              <a:lnSpc>
                <a:spcPct val="115000"/>
              </a:lnSpc>
              <a:spcBef>
                <a:spcPts val="0"/>
              </a:spcBef>
              <a:spcAft>
                <a:spcPts val="0"/>
              </a:spcAft>
              <a:buClr>
                <a:srgbClr val="000000"/>
              </a:buClr>
              <a:buSzPts val="1350"/>
              <a:buFont typeface="Arial"/>
              <a:buNone/>
            </a:pPr>
            <a:r>
              <a:rPr b="0" i="0" lang="en-ZA" sz="1800" u="none" cap="none" strike="noStrike">
                <a:solidFill>
                  <a:srgbClr val="111111"/>
                </a:solidFill>
                <a:highlight>
                  <a:srgbClr val="FFFFFF"/>
                </a:highlight>
                <a:latin typeface="Arial"/>
                <a:ea typeface="Arial"/>
                <a:cs typeface="Arial"/>
                <a:sym typeface="Arial"/>
              </a:rPr>
              <a:t>A study about autocorrelation, helps to understand trend, seasonality, randomness and stationarity in your time series</a:t>
            </a:r>
            <a:endParaRPr b="0" i="0" sz="1800" u="none" cap="none" strike="noStrike">
              <a:solidFill>
                <a:srgbClr val="111111"/>
              </a:solidFill>
              <a:highlight>
                <a:srgbClr val="FFFFFF"/>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g12d80d25c50_0_52"/>
          <p:cNvGrpSpPr/>
          <p:nvPr/>
        </p:nvGrpSpPr>
        <p:grpSpPr>
          <a:xfrm>
            <a:off x="0" y="0"/>
            <a:ext cx="9144026" cy="1436645"/>
            <a:chOff x="0" y="0"/>
            <a:chExt cx="9144026" cy="1436645"/>
          </a:xfrm>
        </p:grpSpPr>
        <p:grpSp>
          <p:nvGrpSpPr>
            <p:cNvPr id="174" name="Google Shape;174;g12d80d25c50_0_52"/>
            <p:cNvGrpSpPr/>
            <p:nvPr/>
          </p:nvGrpSpPr>
          <p:grpSpPr>
            <a:xfrm>
              <a:off x="0" y="0"/>
              <a:ext cx="9144026" cy="896700"/>
              <a:chOff x="0" y="0"/>
              <a:chExt cx="9144026" cy="896700"/>
            </a:xfrm>
          </p:grpSpPr>
          <p:sp>
            <p:nvSpPr>
              <p:cNvPr id="175" name="Google Shape;175;g12d80d25c50_0_52"/>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76" name="Google Shape;176;g12d80d25c50_0_52"/>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77" name="Google Shape;177;g12d80d25c50_0_52"/>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78" name="Google Shape;178;g12d80d25c50_0_52"/>
            <p:cNvGrpSpPr/>
            <p:nvPr/>
          </p:nvGrpSpPr>
          <p:grpSpPr>
            <a:xfrm>
              <a:off x="0" y="896645"/>
              <a:ext cx="9144000" cy="540000"/>
              <a:chOff x="0" y="896645"/>
              <a:chExt cx="9144000" cy="540000"/>
            </a:xfrm>
          </p:grpSpPr>
          <p:sp>
            <p:nvSpPr>
              <p:cNvPr id="179" name="Google Shape;179;g12d80d25c50_0_52"/>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0" name="Google Shape;180;g12d80d25c50_0_52"/>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Randomness (White Noise)</a:t>
                </a:r>
                <a:endParaRPr b="0" i="0" sz="1400" u="none" cap="none" strike="noStrike">
                  <a:solidFill>
                    <a:srgbClr val="000000"/>
                  </a:solidFill>
                  <a:latin typeface="Arial"/>
                  <a:ea typeface="Arial"/>
                  <a:cs typeface="Arial"/>
                  <a:sym typeface="Arial"/>
                </a:endParaRPr>
              </a:p>
            </p:txBody>
          </p:sp>
        </p:grpSp>
      </p:grpSp>
      <p:sp>
        <p:nvSpPr>
          <p:cNvPr id="181" name="Google Shape;181;g12d80d25c50_0_52"/>
          <p:cNvSpPr txBox="1"/>
          <p:nvPr/>
        </p:nvSpPr>
        <p:spPr>
          <a:xfrm>
            <a:off x="0" y="1528600"/>
            <a:ext cx="3800400" cy="3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i="0" lang="en-ZA" sz="1800" u="none" cap="none" strike="noStrike">
                <a:solidFill>
                  <a:schemeClr val="dk1"/>
                </a:solidFill>
                <a:highlight>
                  <a:srgbClr val="FFFFFF"/>
                </a:highlight>
              </a:rPr>
              <a:t>For random data, autocorrelations should be near zero for all lags. Analysts also refer to this condition as white noise. Non-random data have at least one significant lag. When the data are not random, it’s a good indication that you need to use a time series analysis or incorporate lags into a regression analysis to model the data appropriately.</a:t>
            </a:r>
            <a:endParaRPr i="0" sz="1800" u="none" cap="none" strike="noStrike">
              <a:solidFill>
                <a:schemeClr val="dk1"/>
              </a:solidFill>
              <a:highlight>
                <a:srgbClr val="FFFFFF"/>
              </a:highlight>
            </a:endParaRPr>
          </a:p>
        </p:txBody>
      </p:sp>
      <p:pic>
        <p:nvPicPr>
          <p:cNvPr id="182" name="Google Shape;182;g12d80d25c50_0_52"/>
          <p:cNvPicPr preferRelativeResize="0"/>
          <p:nvPr/>
        </p:nvPicPr>
        <p:blipFill rotWithShape="1">
          <a:blip r:embed="rId4">
            <a:alphaModFix/>
          </a:blip>
          <a:srcRect b="0" l="0" r="0" t="0"/>
          <a:stretch/>
        </p:blipFill>
        <p:spPr>
          <a:xfrm>
            <a:off x="3673050" y="2845850"/>
            <a:ext cx="5065250" cy="3376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pSp>
        <p:nvGrpSpPr>
          <p:cNvPr id="187" name="Google Shape;187;g12d80d25c50_0_66"/>
          <p:cNvGrpSpPr/>
          <p:nvPr/>
        </p:nvGrpSpPr>
        <p:grpSpPr>
          <a:xfrm>
            <a:off x="0" y="0"/>
            <a:ext cx="9144026" cy="1436645"/>
            <a:chOff x="0" y="0"/>
            <a:chExt cx="9144026" cy="1436645"/>
          </a:xfrm>
        </p:grpSpPr>
        <p:grpSp>
          <p:nvGrpSpPr>
            <p:cNvPr id="188" name="Google Shape;188;g12d80d25c50_0_66"/>
            <p:cNvGrpSpPr/>
            <p:nvPr/>
          </p:nvGrpSpPr>
          <p:grpSpPr>
            <a:xfrm>
              <a:off x="0" y="0"/>
              <a:ext cx="9144026" cy="896700"/>
              <a:chOff x="0" y="0"/>
              <a:chExt cx="9144026" cy="896700"/>
            </a:xfrm>
          </p:grpSpPr>
          <p:sp>
            <p:nvSpPr>
              <p:cNvPr id="189" name="Google Shape;189;g12d80d25c50_0_66"/>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190" name="Google Shape;190;g12d80d25c50_0_66"/>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191" name="Google Shape;191;g12d80d25c50_0_66"/>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92" name="Google Shape;192;g12d80d25c50_0_66"/>
            <p:cNvGrpSpPr/>
            <p:nvPr/>
          </p:nvGrpSpPr>
          <p:grpSpPr>
            <a:xfrm>
              <a:off x="0" y="896645"/>
              <a:ext cx="9144000" cy="540000"/>
              <a:chOff x="0" y="896645"/>
              <a:chExt cx="9144000" cy="540000"/>
            </a:xfrm>
          </p:grpSpPr>
          <p:sp>
            <p:nvSpPr>
              <p:cNvPr id="193" name="Google Shape;193;g12d80d25c50_0_66"/>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4" name="Google Shape;194;g12d80d25c50_0_66"/>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Stationarity</a:t>
                </a:r>
                <a:endParaRPr b="0" i="0" sz="1400" u="none" cap="none" strike="noStrike">
                  <a:solidFill>
                    <a:srgbClr val="000000"/>
                  </a:solidFill>
                  <a:latin typeface="Arial"/>
                  <a:ea typeface="Arial"/>
                  <a:cs typeface="Arial"/>
                  <a:sym typeface="Arial"/>
                </a:endParaRPr>
              </a:p>
            </p:txBody>
          </p:sp>
        </p:grpSp>
      </p:grpSp>
      <p:sp>
        <p:nvSpPr>
          <p:cNvPr id="195" name="Google Shape;195;g12d80d25c50_0_66"/>
          <p:cNvSpPr txBox="1"/>
          <p:nvPr/>
        </p:nvSpPr>
        <p:spPr>
          <a:xfrm>
            <a:off x="0" y="1528600"/>
            <a:ext cx="4615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i="0" lang="en-ZA" sz="1500" u="none" cap="none" strike="noStrike">
                <a:solidFill>
                  <a:schemeClr val="dk1"/>
                </a:solidFill>
                <a:highlight>
                  <a:srgbClr val="FFFFFF"/>
                </a:highlight>
              </a:rPr>
              <a:t>Stationarity means that the time series does not have a trend, has a constant variance, a constant autocorrelation pattern, and no seasonal pattern. The autocorrelation function declines to near zero rapidly for a stationary time series.</a:t>
            </a:r>
            <a:endParaRPr i="0" sz="1650" u="none" cap="none" strike="noStrike">
              <a:solidFill>
                <a:schemeClr val="dk1"/>
              </a:solidFill>
              <a:highlight>
                <a:srgbClr val="FFFFFF"/>
              </a:highlight>
            </a:endParaRPr>
          </a:p>
        </p:txBody>
      </p:sp>
      <p:pic>
        <p:nvPicPr>
          <p:cNvPr id="196" name="Google Shape;196;g12d80d25c50_0_66"/>
          <p:cNvPicPr preferRelativeResize="0"/>
          <p:nvPr/>
        </p:nvPicPr>
        <p:blipFill rotWithShape="1">
          <a:blip r:embed="rId4">
            <a:alphaModFix/>
          </a:blip>
          <a:srcRect b="0" l="0" r="0" t="0"/>
          <a:stretch/>
        </p:blipFill>
        <p:spPr>
          <a:xfrm>
            <a:off x="3355300" y="3005150"/>
            <a:ext cx="5391150" cy="3562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grpSp>
        <p:nvGrpSpPr>
          <p:cNvPr id="201" name="Google Shape;201;g127fd37c798_0_69"/>
          <p:cNvGrpSpPr/>
          <p:nvPr/>
        </p:nvGrpSpPr>
        <p:grpSpPr>
          <a:xfrm>
            <a:off x="0" y="0"/>
            <a:ext cx="9144026" cy="1436645"/>
            <a:chOff x="0" y="0"/>
            <a:chExt cx="9144026" cy="1436645"/>
          </a:xfrm>
        </p:grpSpPr>
        <p:grpSp>
          <p:nvGrpSpPr>
            <p:cNvPr id="202" name="Google Shape;202;g127fd37c798_0_69"/>
            <p:cNvGrpSpPr/>
            <p:nvPr/>
          </p:nvGrpSpPr>
          <p:grpSpPr>
            <a:xfrm>
              <a:off x="0" y="0"/>
              <a:ext cx="9144026" cy="896700"/>
              <a:chOff x="0" y="0"/>
              <a:chExt cx="9144026" cy="896700"/>
            </a:xfrm>
          </p:grpSpPr>
          <p:sp>
            <p:nvSpPr>
              <p:cNvPr id="203" name="Google Shape;203;g127fd37c798_0_69"/>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04" name="Google Shape;204;g127fd37c798_0_69"/>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05" name="Google Shape;205;g127fd37c798_0_69"/>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06" name="Google Shape;206;g127fd37c798_0_69"/>
            <p:cNvGrpSpPr/>
            <p:nvPr/>
          </p:nvGrpSpPr>
          <p:grpSpPr>
            <a:xfrm>
              <a:off x="0" y="896645"/>
              <a:ext cx="9144000" cy="540000"/>
              <a:chOff x="0" y="896645"/>
              <a:chExt cx="9144000" cy="540000"/>
            </a:xfrm>
          </p:grpSpPr>
          <p:sp>
            <p:nvSpPr>
              <p:cNvPr id="207" name="Google Shape;207;g127fd37c798_0_69"/>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g127fd37c798_0_69"/>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Trends</a:t>
                </a:r>
                <a:endParaRPr b="0" i="0" sz="1400" u="none" cap="none" strike="noStrike">
                  <a:solidFill>
                    <a:srgbClr val="000000"/>
                  </a:solidFill>
                  <a:latin typeface="Arial"/>
                  <a:ea typeface="Arial"/>
                  <a:cs typeface="Arial"/>
                  <a:sym typeface="Arial"/>
                </a:endParaRPr>
              </a:p>
            </p:txBody>
          </p:sp>
        </p:grpSp>
      </p:grpSp>
      <p:sp>
        <p:nvSpPr>
          <p:cNvPr id="209" name="Google Shape;209;g127fd37c798_0_69"/>
          <p:cNvSpPr txBox="1"/>
          <p:nvPr/>
        </p:nvSpPr>
        <p:spPr>
          <a:xfrm>
            <a:off x="0" y="1528600"/>
            <a:ext cx="4615800" cy="1563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i="0" lang="en-ZA" sz="1600" u="none" cap="none" strike="noStrike">
                <a:solidFill>
                  <a:schemeClr val="dk1"/>
                </a:solidFill>
                <a:highlight>
                  <a:srgbClr val="FFFFFF"/>
                </a:highlight>
              </a:rPr>
              <a:t>When trends are present in a time series, shorter lags typically have large positive correlations because observations closer in time tend to have similar values. The correlations taper off slowly as the lags increase.</a:t>
            </a:r>
            <a:endParaRPr i="0" sz="1750" u="none" cap="none" strike="noStrike">
              <a:solidFill>
                <a:schemeClr val="dk1"/>
              </a:solidFill>
              <a:highlight>
                <a:srgbClr val="FFFFFF"/>
              </a:highlight>
            </a:endParaRPr>
          </a:p>
        </p:txBody>
      </p:sp>
      <p:pic>
        <p:nvPicPr>
          <p:cNvPr id="210" name="Google Shape;210;g127fd37c798_0_69"/>
          <p:cNvPicPr preferRelativeResize="0"/>
          <p:nvPr/>
        </p:nvPicPr>
        <p:blipFill rotWithShape="1">
          <a:blip r:embed="rId4">
            <a:alphaModFix/>
          </a:blip>
          <a:srcRect b="0" l="0" r="0" t="0"/>
          <a:stretch/>
        </p:blipFill>
        <p:spPr>
          <a:xfrm>
            <a:off x="2962500" y="2891450"/>
            <a:ext cx="5362575" cy="3533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g129d2328b0b_0_17"/>
          <p:cNvGrpSpPr/>
          <p:nvPr/>
        </p:nvGrpSpPr>
        <p:grpSpPr>
          <a:xfrm>
            <a:off x="0" y="0"/>
            <a:ext cx="9144026" cy="1436645"/>
            <a:chOff x="0" y="0"/>
            <a:chExt cx="9144026" cy="1436645"/>
          </a:xfrm>
        </p:grpSpPr>
        <p:grpSp>
          <p:nvGrpSpPr>
            <p:cNvPr id="216" name="Google Shape;216;g129d2328b0b_0_17"/>
            <p:cNvGrpSpPr/>
            <p:nvPr/>
          </p:nvGrpSpPr>
          <p:grpSpPr>
            <a:xfrm>
              <a:off x="0" y="0"/>
              <a:ext cx="9144026" cy="896700"/>
              <a:chOff x="0" y="0"/>
              <a:chExt cx="9144026" cy="896700"/>
            </a:xfrm>
          </p:grpSpPr>
          <p:sp>
            <p:nvSpPr>
              <p:cNvPr id="217" name="Google Shape;217;g129d2328b0b_0_17"/>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18" name="Google Shape;218;g129d2328b0b_0_17"/>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19" name="Google Shape;219;g129d2328b0b_0_17"/>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20" name="Google Shape;220;g129d2328b0b_0_17"/>
            <p:cNvGrpSpPr/>
            <p:nvPr/>
          </p:nvGrpSpPr>
          <p:grpSpPr>
            <a:xfrm>
              <a:off x="0" y="896645"/>
              <a:ext cx="9144000" cy="540000"/>
              <a:chOff x="0" y="896645"/>
              <a:chExt cx="9144000" cy="540000"/>
            </a:xfrm>
          </p:grpSpPr>
          <p:sp>
            <p:nvSpPr>
              <p:cNvPr id="221" name="Google Shape;221;g129d2328b0b_0_17"/>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g129d2328b0b_0_17"/>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Seasonality</a:t>
                </a:r>
                <a:endParaRPr b="0" i="0" sz="1400" u="none" cap="none" strike="noStrike">
                  <a:solidFill>
                    <a:srgbClr val="000000"/>
                  </a:solidFill>
                  <a:latin typeface="Arial"/>
                  <a:ea typeface="Arial"/>
                  <a:cs typeface="Arial"/>
                  <a:sym typeface="Arial"/>
                </a:endParaRPr>
              </a:p>
            </p:txBody>
          </p:sp>
        </p:grpSp>
      </p:grpSp>
      <p:sp>
        <p:nvSpPr>
          <p:cNvPr id="223" name="Google Shape;223;g129d2328b0b_0_17"/>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pic>
        <p:nvPicPr>
          <p:cNvPr id="224" name="Google Shape;224;g129d2328b0b_0_17"/>
          <p:cNvPicPr preferRelativeResize="0"/>
          <p:nvPr/>
        </p:nvPicPr>
        <p:blipFill rotWithShape="1">
          <a:blip r:embed="rId4">
            <a:alphaModFix/>
          </a:blip>
          <a:srcRect b="0" l="0" r="0" t="0"/>
          <a:stretch/>
        </p:blipFill>
        <p:spPr>
          <a:xfrm>
            <a:off x="3335500" y="3088120"/>
            <a:ext cx="5353050" cy="3524250"/>
          </a:xfrm>
          <a:prstGeom prst="rect">
            <a:avLst/>
          </a:prstGeom>
          <a:noFill/>
          <a:ln>
            <a:noFill/>
          </a:ln>
        </p:spPr>
      </p:pic>
      <p:sp>
        <p:nvSpPr>
          <p:cNvPr id="225" name="Google Shape;225;g129d2328b0b_0_17"/>
          <p:cNvSpPr txBox="1"/>
          <p:nvPr/>
        </p:nvSpPr>
        <p:spPr>
          <a:xfrm>
            <a:off x="407225" y="1540400"/>
            <a:ext cx="3000000" cy="215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i="0" lang="en-ZA" sz="1600" u="none" cap="none" strike="noStrike">
                <a:solidFill>
                  <a:schemeClr val="dk1"/>
                </a:solidFill>
                <a:highlight>
                  <a:srgbClr val="FFFFFF"/>
                </a:highlight>
              </a:rPr>
              <a:t>When seasonal patterns are present, the autocorrelations are </a:t>
            </a:r>
            <a:r>
              <a:rPr i="0" lang="en-ZA" sz="1600" u="none" cap="none" strike="noStrike">
                <a:solidFill>
                  <a:schemeClr val="dk1"/>
                </a:solidFill>
                <a:highlight>
                  <a:srgbClr val="FFFFFF"/>
                </a:highlight>
              </a:rPr>
              <a:t>larger </a:t>
            </a:r>
            <a:r>
              <a:rPr i="0" lang="en-ZA" sz="1600" u="none" cap="none" strike="noStrike">
                <a:solidFill>
                  <a:schemeClr val="dk1"/>
                </a:solidFill>
                <a:highlight>
                  <a:srgbClr val="FFFFFF"/>
                </a:highlight>
              </a:rPr>
              <a:t>for lags at multiples of the seasonal frequency than for other lags.</a:t>
            </a:r>
            <a:endParaRPr i="0" sz="16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200"/>
              <a:buFont typeface="Arial"/>
              <a:buNone/>
            </a:pPr>
            <a:r>
              <a:t/>
            </a:r>
            <a:endParaRPr i="0" sz="16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200"/>
              <a:buFont typeface="Arial"/>
              <a:buNone/>
            </a:pPr>
            <a:r>
              <a:rPr i="0" lang="en-ZA" sz="1600" u="none" cap="none" strike="noStrike">
                <a:solidFill>
                  <a:schemeClr val="dk1"/>
                </a:solidFill>
                <a:highlight>
                  <a:srgbClr val="FFFFFF"/>
                </a:highlight>
              </a:rPr>
              <a:t>You can have both seasonality and trend</a:t>
            </a:r>
            <a:endParaRPr i="0" sz="1600" u="none" cap="none" strike="noStrike">
              <a:solidFill>
                <a:schemeClr val="dk1"/>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pSp>
        <p:nvGrpSpPr>
          <p:cNvPr id="230" name="Google Shape;230;g129d2328b0b_0_33"/>
          <p:cNvGrpSpPr/>
          <p:nvPr/>
        </p:nvGrpSpPr>
        <p:grpSpPr>
          <a:xfrm>
            <a:off x="0" y="0"/>
            <a:ext cx="9144026" cy="1436645"/>
            <a:chOff x="0" y="0"/>
            <a:chExt cx="9144026" cy="1436645"/>
          </a:xfrm>
        </p:grpSpPr>
        <p:grpSp>
          <p:nvGrpSpPr>
            <p:cNvPr id="231" name="Google Shape;231;g129d2328b0b_0_33"/>
            <p:cNvGrpSpPr/>
            <p:nvPr/>
          </p:nvGrpSpPr>
          <p:grpSpPr>
            <a:xfrm>
              <a:off x="0" y="0"/>
              <a:ext cx="9144026" cy="896700"/>
              <a:chOff x="0" y="0"/>
              <a:chExt cx="9144026" cy="896700"/>
            </a:xfrm>
          </p:grpSpPr>
          <p:sp>
            <p:nvSpPr>
              <p:cNvPr id="232" name="Google Shape;232;g129d2328b0b_0_33"/>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33" name="Google Shape;233;g129d2328b0b_0_33"/>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34" name="Google Shape;234;g129d2328b0b_0_33"/>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35" name="Google Shape;235;g129d2328b0b_0_33"/>
            <p:cNvGrpSpPr/>
            <p:nvPr/>
          </p:nvGrpSpPr>
          <p:grpSpPr>
            <a:xfrm>
              <a:off x="0" y="896645"/>
              <a:ext cx="9144000" cy="540000"/>
              <a:chOff x="0" y="896645"/>
              <a:chExt cx="9144000" cy="540000"/>
            </a:xfrm>
          </p:grpSpPr>
          <p:sp>
            <p:nvSpPr>
              <p:cNvPr id="236" name="Google Shape;236;g129d2328b0b_0_33"/>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g129d2328b0b_0_33"/>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Decomposition</a:t>
                </a:r>
                <a:endParaRPr b="0" i="0" sz="1400" u="none" cap="none" strike="noStrike">
                  <a:solidFill>
                    <a:srgbClr val="000000"/>
                  </a:solidFill>
                  <a:latin typeface="Arial"/>
                  <a:ea typeface="Arial"/>
                  <a:cs typeface="Arial"/>
                  <a:sym typeface="Arial"/>
                </a:endParaRPr>
              </a:p>
            </p:txBody>
          </p:sp>
        </p:grpSp>
      </p:grpSp>
      <p:sp>
        <p:nvSpPr>
          <p:cNvPr id="238" name="Google Shape;238;g129d2328b0b_0_33"/>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239" name="Google Shape;239;g129d2328b0b_0_33"/>
          <p:cNvSpPr txBox="1"/>
          <p:nvPr/>
        </p:nvSpPr>
        <p:spPr>
          <a:xfrm>
            <a:off x="335500" y="2903725"/>
            <a:ext cx="30000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50"/>
              <a:buFont typeface="Arial"/>
              <a:buNone/>
            </a:pPr>
            <a:r>
              <a:rPr b="0" i="0" lang="en-ZA" sz="1150" u="none" cap="none" strike="noStrike">
                <a:solidFill>
                  <a:schemeClr val="dk1"/>
                </a:solidFill>
                <a:highlight>
                  <a:srgbClr val="FFFFFF"/>
                </a:highlight>
                <a:latin typeface="Arial"/>
                <a:ea typeface="Arial"/>
                <a:cs typeface="Arial"/>
                <a:sym typeface="Arial"/>
              </a:rPr>
              <a:t>Time series decomposition involves thinking of a series as a combination of level, trend, seasonality, and noise (or residual) components</a:t>
            </a:r>
            <a:endParaRPr b="0" i="0" sz="1400" u="none" cap="none" strike="noStrike">
              <a:solidFill>
                <a:schemeClr val="dk1"/>
              </a:solidFill>
              <a:latin typeface="Arial"/>
              <a:ea typeface="Arial"/>
              <a:cs typeface="Arial"/>
              <a:sym typeface="Arial"/>
            </a:endParaRPr>
          </a:p>
        </p:txBody>
      </p:sp>
      <p:pic>
        <p:nvPicPr>
          <p:cNvPr id="240" name="Google Shape;240;g129d2328b0b_0_33"/>
          <p:cNvPicPr preferRelativeResize="0"/>
          <p:nvPr/>
        </p:nvPicPr>
        <p:blipFill rotWithShape="1">
          <a:blip r:embed="rId4">
            <a:alphaModFix/>
          </a:blip>
          <a:srcRect b="0" l="0" r="0" t="0"/>
          <a:stretch/>
        </p:blipFill>
        <p:spPr>
          <a:xfrm>
            <a:off x="3618675" y="1919570"/>
            <a:ext cx="5402450" cy="419717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g12d80d25c50_0_91"/>
          <p:cNvGrpSpPr/>
          <p:nvPr/>
        </p:nvGrpSpPr>
        <p:grpSpPr>
          <a:xfrm>
            <a:off x="0" y="0"/>
            <a:ext cx="9144026" cy="1436645"/>
            <a:chOff x="0" y="0"/>
            <a:chExt cx="9144026" cy="1436645"/>
          </a:xfrm>
        </p:grpSpPr>
        <p:grpSp>
          <p:nvGrpSpPr>
            <p:cNvPr id="246" name="Google Shape;246;g12d80d25c50_0_91"/>
            <p:cNvGrpSpPr/>
            <p:nvPr/>
          </p:nvGrpSpPr>
          <p:grpSpPr>
            <a:xfrm>
              <a:off x="0" y="0"/>
              <a:ext cx="9144026" cy="896700"/>
              <a:chOff x="0" y="0"/>
              <a:chExt cx="9144026" cy="896700"/>
            </a:xfrm>
          </p:grpSpPr>
          <p:sp>
            <p:nvSpPr>
              <p:cNvPr id="247" name="Google Shape;247;g12d80d25c50_0_91"/>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48" name="Google Shape;248;g12d80d25c50_0_91"/>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49" name="Google Shape;249;g12d80d25c50_0_91"/>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50" name="Google Shape;250;g12d80d25c50_0_91"/>
            <p:cNvGrpSpPr/>
            <p:nvPr/>
          </p:nvGrpSpPr>
          <p:grpSpPr>
            <a:xfrm>
              <a:off x="0" y="896645"/>
              <a:ext cx="9144000" cy="540000"/>
              <a:chOff x="0" y="896645"/>
              <a:chExt cx="9144000" cy="540000"/>
            </a:xfrm>
          </p:grpSpPr>
          <p:sp>
            <p:nvSpPr>
              <p:cNvPr id="251" name="Google Shape;251;g12d80d25c50_0_91"/>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g12d80d25c50_0_91"/>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ARMA MODEL</a:t>
                </a:r>
                <a:endParaRPr b="0" i="0" sz="1400" u="none" cap="none" strike="noStrike">
                  <a:solidFill>
                    <a:srgbClr val="000000"/>
                  </a:solidFill>
                  <a:latin typeface="Arial"/>
                  <a:ea typeface="Arial"/>
                  <a:cs typeface="Arial"/>
                  <a:sym typeface="Arial"/>
                </a:endParaRPr>
              </a:p>
            </p:txBody>
          </p:sp>
        </p:grpSp>
      </p:grpSp>
      <p:sp>
        <p:nvSpPr>
          <p:cNvPr id="253" name="Google Shape;253;g12d80d25c50_0_91"/>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254" name="Google Shape;254;g12d80d25c50_0_91"/>
          <p:cNvSpPr txBox="1"/>
          <p:nvPr/>
        </p:nvSpPr>
        <p:spPr>
          <a:xfrm>
            <a:off x="75825" y="1534500"/>
            <a:ext cx="5248200" cy="3458400"/>
          </a:xfrm>
          <a:prstGeom prst="rect">
            <a:avLst/>
          </a:prstGeom>
          <a:noFill/>
          <a:ln>
            <a:noFill/>
          </a:ln>
        </p:spPr>
        <p:txBody>
          <a:bodyPr anchorCtr="0" anchor="t" bIns="91425" lIns="91425" spcFirstLastPara="1" rIns="91425" wrap="square" tIns="91425">
            <a:spAutoFit/>
          </a:bodyPr>
          <a:lstStyle/>
          <a:p>
            <a:pPr indent="0" lvl="0" marL="0" marR="0" rtl="0" algn="l">
              <a:lnSpc>
                <a:spcPct val="105882"/>
              </a:lnSpc>
              <a:spcBef>
                <a:spcPts val="4000"/>
              </a:spcBef>
              <a:spcAft>
                <a:spcPts val="0"/>
              </a:spcAft>
              <a:buClr>
                <a:srgbClr val="000000"/>
              </a:buClr>
              <a:buSzPts val="1500"/>
              <a:buFont typeface="Arial"/>
              <a:buNone/>
            </a:pPr>
            <a:r>
              <a:rPr b="1" i="0" lang="en-ZA" sz="1500" u="none" cap="none" strike="noStrike">
                <a:solidFill>
                  <a:srgbClr val="292929"/>
                </a:solidFill>
                <a:highlight>
                  <a:srgbClr val="FFFFFF"/>
                </a:highlight>
                <a:latin typeface="Arial"/>
                <a:ea typeface="Arial"/>
                <a:cs typeface="Arial"/>
                <a:sym typeface="Arial"/>
              </a:rPr>
              <a:t>Auto Regressive Moving Average</a:t>
            </a:r>
            <a:endParaRPr b="1" i="0" sz="1500" u="none" cap="none" strike="noStrike">
              <a:solidFill>
                <a:srgbClr val="292929"/>
              </a:solidFill>
              <a:highlight>
                <a:srgbClr val="FFFFFF"/>
              </a:highlight>
              <a:latin typeface="Arial"/>
              <a:ea typeface="Arial"/>
              <a:cs typeface="Arial"/>
              <a:sym typeface="Arial"/>
            </a:endParaRPr>
          </a:p>
          <a:p>
            <a:pPr indent="-342900" lvl="0" marL="457200" marR="0" rtl="0" algn="l">
              <a:lnSpc>
                <a:spcPct val="105882"/>
              </a:lnSpc>
              <a:spcBef>
                <a:spcPts val="4000"/>
              </a:spcBef>
              <a:spcAft>
                <a:spcPts val="0"/>
              </a:spcAft>
              <a:buClr>
                <a:srgbClr val="292929"/>
              </a:buClr>
              <a:buSzPts val="1800"/>
              <a:buFont typeface="Arial"/>
              <a:buChar char="●"/>
            </a:pPr>
            <a:r>
              <a:rPr b="1" i="0" lang="en-ZA" sz="1800" u="none" cap="none" strike="noStrike">
                <a:solidFill>
                  <a:srgbClr val="292929"/>
                </a:solidFill>
                <a:highlight>
                  <a:srgbClr val="FFFFFF"/>
                </a:highlight>
                <a:latin typeface="Arial"/>
                <a:ea typeface="Arial"/>
                <a:cs typeface="Arial"/>
                <a:sym typeface="Arial"/>
              </a:rPr>
              <a:t>Auto Regressive (AR) Model: </a:t>
            </a:r>
            <a:r>
              <a:rPr b="0" i="0" lang="en-ZA" sz="1800" u="none" cap="none" strike="noStrike">
                <a:solidFill>
                  <a:srgbClr val="292929"/>
                </a:solidFill>
                <a:highlight>
                  <a:srgbClr val="FFFFFF"/>
                </a:highlight>
                <a:latin typeface="Georgia"/>
                <a:ea typeface="Georgia"/>
                <a:cs typeface="Georgia"/>
                <a:sym typeface="Georgia"/>
              </a:rPr>
              <a:t>The time period at t is impacted by the observation at various slots t-1, t-2, t-3, ….., t-k. The impact of previous time spots is decided by the coefficient factor at that particular period of time. The price of a share of any particular company X may depend on all the previous share prices in the time series.</a:t>
            </a:r>
            <a:endParaRPr b="0" i="0" sz="1800" u="none" cap="none" strike="noStrike">
              <a:solidFill>
                <a:srgbClr val="292929"/>
              </a:solidFill>
              <a:highlight>
                <a:srgbClr val="FFFFFF"/>
              </a:highlight>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292929"/>
              </a:solidFill>
              <a:highlight>
                <a:srgbClr val="FFFFFF"/>
              </a:highlight>
              <a:latin typeface="Georgia"/>
              <a:ea typeface="Georgia"/>
              <a:cs typeface="Georgia"/>
              <a:sym typeface="Georgia"/>
            </a:endParaRPr>
          </a:p>
        </p:txBody>
      </p:sp>
      <p:pic>
        <p:nvPicPr>
          <p:cNvPr id="255" name="Google Shape;255;g12d80d25c50_0_91"/>
          <p:cNvPicPr preferRelativeResize="0"/>
          <p:nvPr/>
        </p:nvPicPr>
        <p:blipFill rotWithShape="1">
          <a:blip r:embed="rId4">
            <a:alphaModFix/>
          </a:blip>
          <a:srcRect b="0" l="0" r="0" t="0"/>
          <a:stretch/>
        </p:blipFill>
        <p:spPr>
          <a:xfrm>
            <a:off x="5388325" y="2232370"/>
            <a:ext cx="3676650" cy="3533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grpSp>
        <p:nvGrpSpPr>
          <p:cNvPr id="260" name="Google Shape;260;g2745014f3d5_0_30"/>
          <p:cNvGrpSpPr/>
          <p:nvPr/>
        </p:nvGrpSpPr>
        <p:grpSpPr>
          <a:xfrm>
            <a:off x="0" y="0"/>
            <a:ext cx="9144026" cy="1436645"/>
            <a:chOff x="0" y="0"/>
            <a:chExt cx="9144026" cy="1436645"/>
          </a:xfrm>
        </p:grpSpPr>
        <p:grpSp>
          <p:nvGrpSpPr>
            <p:cNvPr id="261" name="Google Shape;261;g2745014f3d5_0_30"/>
            <p:cNvGrpSpPr/>
            <p:nvPr/>
          </p:nvGrpSpPr>
          <p:grpSpPr>
            <a:xfrm>
              <a:off x="0" y="0"/>
              <a:ext cx="9144026" cy="896700"/>
              <a:chOff x="0" y="0"/>
              <a:chExt cx="9144026" cy="896700"/>
            </a:xfrm>
          </p:grpSpPr>
          <p:sp>
            <p:nvSpPr>
              <p:cNvPr id="262" name="Google Shape;262;g2745014f3d5_0_30"/>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63" name="Google Shape;263;g2745014f3d5_0_30"/>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64" name="Google Shape;264;g2745014f3d5_0_30"/>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65" name="Google Shape;265;g2745014f3d5_0_30"/>
            <p:cNvGrpSpPr/>
            <p:nvPr/>
          </p:nvGrpSpPr>
          <p:grpSpPr>
            <a:xfrm>
              <a:off x="0" y="896645"/>
              <a:ext cx="9144000" cy="540000"/>
              <a:chOff x="0" y="896645"/>
              <a:chExt cx="9144000" cy="540000"/>
            </a:xfrm>
          </p:grpSpPr>
          <p:sp>
            <p:nvSpPr>
              <p:cNvPr id="266" name="Google Shape;266;g2745014f3d5_0_30"/>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g2745014f3d5_0_30"/>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ARMA MODEL</a:t>
                </a:r>
                <a:endParaRPr b="0" i="0" sz="1400" u="none" cap="none" strike="noStrike">
                  <a:solidFill>
                    <a:srgbClr val="000000"/>
                  </a:solidFill>
                  <a:latin typeface="Arial"/>
                  <a:ea typeface="Arial"/>
                  <a:cs typeface="Arial"/>
                  <a:sym typeface="Arial"/>
                </a:endParaRPr>
              </a:p>
            </p:txBody>
          </p:sp>
        </p:grpSp>
      </p:grpSp>
      <p:sp>
        <p:nvSpPr>
          <p:cNvPr id="268" name="Google Shape;268;g2745014f3d5_0_30"/>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269" name="Google Shape;269;g2745014f3d5_0_30"/>
          <p:cNvSpPr txBox="1"/>
          <p:nvPr/>
        </p:nvSpPr>
        <p:spPr>
          <a:xfrm>
            <a:off x="75825" y="1229700"/>
            <a:ext cx="5248200" cy="5854200"/>
          </a:xfrm>
          <a:prstGeom prst="rect">
            <a:avLst/>
          </a:prstGeom>
          <a:noFill/>
          <a:ln>
            <a:noFill/>
          </a:ln>
        </p:spPr>
        <p:txBody>
          <a:bodyPr anchorCtr="0" anchor="t" bIns="91425" lIns="91425" spcFirstLastPara="1" rIns="91425" wrap="square" tIns="91425">
            <a:spAutoFit/>
          </a:bodyPr>
          <a:lstStyle/>
          <a:p>
            <a:pPr indent="0" lvl="0" marL="0" marR="0" rtl="0" algn="l">
              <a:lnSpc>
                <a:spcPct val="105882"/>
              </a:lnSpc>
              <a:spcBef>
                <a:spcPts val="4000"/>
              </a:spcBef>
              <a:spcAft>
                <a:spcPts val="0"/>
              </a:spcAft>
              <a:buClr>
                <a:srgbClr val="000000"/>
              </a:buClr>
              <a:buSzPts val="1500"/>
              <a:buFont typeface="Arial"/>
              <a:buNone/>
            </a:pPr>
            <a:r>
              <a:rPr b="1" i="0" lang="en-ZA" sz="1800" u="none" cap="none" strike="noStrike">
                <a:solidFill>
                  <a:srgbClr val="292929"/>
                </a:solidFill>
                <a:highlight>
                  <a:srgbClr val="FFFFFF"/>
                </a:highlight>
                <a:latin typeface="Arial"/>
                <a:ea typeface="Arial"/>
                <a:cs typeface="Arial"/>
                <a:sym typeface="Arial"/>
              </a:rPr>
              <a:t>Auto</a:t>
            </a:r>
            <a:r>
              <a:rPr b="1" lang="en-ZA" sz="1800">
                <a:solidFill>
                  <a:srgbClr val="292929"/>
                </a:solidFill>
                <a:highlight>
                  <a:srgbClr val="FFFFFF"/>
                </a:highlight>
              </a:rPr>
              <a:t>-</a:t>
            </a:r>
            <a:r>
              <a:rPr b="1" i="0" lang="en-ZA" sz="1800" u="none" cap="none" strike="noStrike">
                <a:solidFill>
                  <a:srgbClr val="292929"/>
                </a:solidFill>
                <a:highlight>
                  <a:srgbClr val="FFFFFF"/>
                </a:highlight>
                <a:latin typeface="Arial"/>
                <a:ea typeface="Arial"/>
                <a:cs typeface="Arial"/>
                <a:sym typeface="Arial"/>
              </a:rPr>
              <a:t>Regressive Moving Average</a:t>
            </a:r>
            <a:endParaRPr b="1" i="0" sz="1800" u="none" cap="none" strike="noStrike">
              <a:solidFill>
                <a:srgbClr val="292929"/>
              </a:solidFill>
              <a:highlight>
                <a:srgbClr val="FFFFFF"/>
              </a:highlight>
              <a:latin typeface="Arial"/>
              <a:ea typeface="Arial"/>
              <a:cs typeface="Arial"/>
              <a:sym typeface="Arial"/>
            </a:endParaRPr>
          </a:p>
          <a:p>
            <a:pPr indent="-330200" lvl="0" marL="457200" marR="0" rtl="0" algn="l">
              <a:lnSpc>
                <a:spcPct val="105882"/>
              </a:lnSpc>
              <a:spcBef>
                <a:spcPts val="4000"/>
              </a:spcBef>
              <a:spcAft>
                <a:spcPts val="0"/>
              </a:spcAft>
              <a:buClr>
                <a:srgbClr val="292929"/>
              </a:buClr>
              <a:buSzPts val="1600"/>
              <a:buFont typeface="Arial"/>
              <a:buChar char="●"/>
            </a:pPr>
            <a:r>
              <a:rPr b="1" i="0" lang="en-ZA" sz="1600" u="none" cap="none" strike="noStrike">
                <a:solidFill>
                  <a:srgbClr val="292929"/>
                </a:solidFill>
                <a:highlight>
                  <a:srgbClr val="FFFFFF"/>
                </a:highlight>
                <a:latin typeface="Arial"/>
                <a:ea typeface="Arial"/>
                <a:cs typeface="Arial"/>
                <a:sym typeface="Arial"/>
              </a:rPr>
              <a:t>Auto Regres</a:t>
            </a:r>
            <a:r>
              <a:rPr b="1" i="0" lang="en-ZA" sz="1600" u="none" cap="none" strike="noStrike">
                <a:solidFill>
                  <a:srgbClr val="292929"/>
                </a:solidFill>
                <a:highlight>
                  <a:srgbClr val="FFFFFF"/>
                </a:highlight>
                <a:latin typeface="Arial"/>
                <a:ea typeface="Arial"/>
                <a:cs typeface="Arial"/>
                <a:sym typeface="Arial"/>
              </a:rPr>
              <a:t>s</a:t>
            </a:r>
            <a:r>
              <a:rPr b="1" i="0" lang="en-ZA" sz="1600" u="none" cap="none" strike="noStrike">
                <a:solidFill>
                  <a:srgbClr val="292929"/>
                </a:solidFill>
                <a:highlight>
                  <a:srgbClr val="FFFFFF"/>
                </a:highlight>
                <a:latin typeface="Arial"/>
                <a:ea typeface="Arial"/>
                <a:cs typeface="Arial"/>
                <a:sym typeface="Arial"/>
              </a:rPr>
              <a:t>ive (AR) Model: </a:t>
            </a:r>
            <a:r>
              <a:rPr b="0" i="0" lang="en-ZA" sz="1600" u="none" cap="none" strike="noStrike">
                <a:solidFill>
                  <a:srgbClr val="292929"/>
                </a:solidFill>
                <a:highlight>
                  <a:srgbClr val="FFFFFF"/>
                </a:highlight>
                <a:latin typeface="Georgia"/>
                <a:ea typeface="Georgia"/>
                <a:cs typeface="Georgia"/>
                <a:sym typeface="Georgia"/>
              </a:rPr>
              <a:t>The time period at t is impacted by the observation at various slots t-1, t-2, t-3, ….., t-k. The impact of previous time spots is decided by the coefficient factor at that particular period of time. The price of a share of any particular company X may depend on all the previous share prices in the time series.</a:t>
            </a:r>
            <a:endParaRPr b="0" i="0" sz="1600" u="none" cap="none" strike="noStrike">
              <a:solidFill>
                <a:srgbClr val="292929"/>
              </a:solidFill>
              <a:highlight>
                <a:srgbClr val="FFFFFF"/>
              </a:highlight>
              <a:latin typeface="Georgia"/>
              <a:ea typeface="Georgia"/>
              <a:cs typeface="Georgia"/>
              <a:sym typeface="Georgia"/>
            </a:endParaRPr>
          </a:p>
          <a:p>
            <a:pPr indent="-330200" lvl="0" marL="457200" marR="0" rtl="0" algn="l">
              <a:lnSpc>
                <a:spcPct val="105882"/>
              </a:lnSpc>
              <a:spcBef>
                <a:spcPts val="0"/>
              </a:spcBef>
              <a:spcAft>
                <a:spcPts val="0"/>
              </a:spcAft>
              <a:buClr>
                <a:srgbClr val="292929"/>
              </a:buClr>
              <a:buSzPts val="1600"/>
              <a:buFont typeface="Georgia"/>
              <a:buChar char="●"/>
            </a:pPr>
            <a:r>
              <a:rPr b="1" i="0" lang="en-ZA" sz="1600" u="none" cap="none" strike="noStrike">
                <a:solidFill>
                  <a:srgbClr val="292929"/>
                </a:solidFill>
                <a:highlight>
                  <a:srgbClr val="FFFFFF"/>
                </a:highlight>
                <a:latin typeface="Georgia"/>
                <a:ea typeface="Georgia"/>
                <a:cs typeface="Georgia"/>
                <a:sym typeface="Georgia"/>
              </a:rPr>
              <a:t>Moving Average (MA) Model: </a:t>
            </a:r>
            <a:r>
              <a:rPr b="0" i="0" lang="en-ZA" sz="1600" u="none" cap="none" strike="noStrike">
                <a:solidFill>
                  <a:srgbClr val="292929"/>
                </a:solidFill>
                <a:highlight>
                  <a:srgbClr val="FFFFFF"/>
                </a:highlight>
                <a:latin typeface="Georgia"/>
                <a:ea typeface="Georgia"/>
                <a:cs typeface="Georgia"/>
                <a:sym typeface="Georgia"/>
              </a:rPr>
              <a:t>The time period at t is impacted by the unexpected external factors at various slots t-1, t-2, t-3, ….., t-k. These unexpected impacts are known as Errors or Residuals. The impact of previous time spots is decided by the coefficient factor α at that particular period of time. The price of a share of any particular company X may depend on some company merger that happened overnight or maybe the company resulted in shutdown due to bankruptcy. </a:t>
            </a:r>
            <a:endParaRPr b="0" i="0" sz="1600" u="none" cap="none" strike="noStrike">
              <a:solidFill>
                <a:srgbClr val="292929"/>
              </a:solidFill>
              <a:highlight>
                <a:srgbClr val="FFFFFF"/>
              </a:highlight>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292929"/>
              </a:solidFill>
              <a:highlight>
                <a:srgbClr val="FFFFFF"/>
              </a:highlight>
              <a:latin typeface="Georgia"/>
              <a:ea typeface="Georgia"/>
              <a:cs typeface="Georgia"/>
              <a:sym typeface="Georgia"/>
            </a:endParaRPr>
          </a:p>
        </p:txBody>
      </p:sp>
      <p:pic>
        <p:nvPicPr>
          <p:cNvPr id="270" name="Google Shape;270;g2745014f3d5_0_30"/>
          <p:cNvPicPr preferRelativeResize="0"/>
          <p:nvPr/>
        </p:nvPicPr>
        <p:blipFill rotWithShape="1">
          <a:blip r:embed="rId4">
            <a:alphaModFix/>
          </a:blip>
          <a:srcRect b="0" l="0" r="0" t="0"/>
          <a:stretch/>
        </p:blipFill>
        <p:spPr>
          <a:xfrm>
            <a:off x="5388325" y="2232370"/>
            <a:ext cx="3676650" cy="3533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grpSp>
        <p:nvGrpSpPr>
          <p:cNvPr id="275" name="Google Shape;275;g2745014f3d5_0_44"/>
          <p:cNvGrpSpPr/>
          <p:nvPr/>
        </p:nvGrpSpPr>
        <p:grpSpPr>
          <a:xfrm>
            <a:off x="0" y="0"/>
            <a:ext cx="9144026" cy="1436645"/>
            <a:chOff x="0" y="0"/>
            <a:chExt cx="9144026" cy="1436645"/>
          </a:xfrm>
        </p:grpSpPr>
        <p:grpSp>
          <p:nvGrpSpPr>
            <p:cNvPr id="276" name="Google Shape;276;g2745014f3d5_0_44"/>
            <p:cNvGrpSpPr/>
            <p:nvPr/>
          </p:nvGrpSpPr>
          <p:grpSpPr>
            <a:xfrm>
              <a:off x="0" y="0"/>
              <a:ext cx="9144026" cy="896700"/>
              <a:chOff x="0" y="0"/>
              <a:chExt cx="9144026" cy="896700"/>
            </a:xfrm>
          </p:grpSpPr>
          <p:sp>
            <p:nvSpPr>
              <p:cNvPr id="277" name="Google Shape;277;g2745014f3d5_0_44"/>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78" name="Google Shape;278;g2745014f3d5_0_44"/>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79" name="Google Shape;279;g2745014f3d5_0_44"/>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80" name="Google Shape;280;g2745014f3d5_0_44"/>
            <p:cNvGrpSpPr/>
            <p:nvPr/>
          </p:nvGrpSpPr>
          <p:grpSpPr>
            <a:xfrm>
              <a:off x="0" y="896645"/>
              <a:ext cx="9144000" cy="540000"/>
              <a:chOff x="0" y="896645"/>
              <a:chExt cx="9144000" cy="540000"/>
            </a:xfrm>
          </p:grpSpPr>
          <p:sp>
            <p:nvSpPr>
              <p:cNvPr id="281" name="Google Shape;281;g2745014f3d5_0_44"/>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2" name="Google Shape;282;g2745014f3d5_0_44"/>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ARMA MODEL</a:t>
                </a:r>
                <a:endParaRPr b="0" i="0" sz="1400" u="none" cap="none" strike="noStrike">
                  <a:solidFill>
                    <a:srgbClr val="000000"/>
                  </a:solidFill>
                  <a:latin typeface="Arial"/>
                  <a:ea typeface="Arial"/>
                  <a:cs typeface="Arial"/>
                  <a:sym typeface="Arial"/>
                </a:endParaRPr>
              </a:p>
            </p:txBody>
          </p:sp>
        </p:grpSp>
      </p:grpSp>
      <p:sp>
        <p:nvSpPr>
          <p:cNvPr id="283" name="Google Shape;283;g2745014f3d5_0_44"/>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284" name="Google Shape;284;g2745014f3d5_0_44"/>
          <p:cNvSpPr txBox="1"/>
          <p:nvPr/>
        </p:nvSpPr>
        <p:spPr>
          <a:xfrm>
            <a:off x="75825" y="1534500"/>
            <a:ext cx="5248200" cy="2586900"/>
          </a:xfrm>
          <a:prstGeom prst="rect">
            <a:avLst/>
          </a:prstGeom>
          <a:noFill/>
          <a:ln>
            <a:noFill/>
          </a:ln>
        </p:spPr>
        <p:txBody>
          <a:bodyPr anchorCtr="0" anchor="t" bIns="91425" lIns="91425" spcFirstLastPara="1" rIns="91425" wrap="square" tIns="91425">
            <a:spAutoFit/>
          </a:bodyPr>
          <a:lstStyle/>
          <a:p>
            <a:pPr indent="0" lvl="0" marL="0" marR="0" rtl="0" algn="l">
              <a:lnSpc>
                <a:spcPct val="105882"/>
              </a:lnSpc>
              <a:spcBef>
                <a:spcPts val="4000"/>
              </a:spcBef>
              <a:spcAft>
                <a:spcPts val="0"/>
              </a:spcAft>
              <a:buClr>
                <a:srgbClr val="000000"/>
              </a:buClr>
              <a:buSzPts val="1500"/>
              <a:buFont typeface="Arial"/>
              <a:buNone/>
            </a:pPr>
            <a:r>
              <a:rPr b="1" i="0" lang="en-ZA" sz="1800" u="none" cap="none" strike="noStrike">
                <a:solidFill>
                  <a:srgbClr val="292929"/>
                </a:solidFill>
                <a:highlight>
                  <a:srgbClr val="FFFFFF"/>
                </a:highlight>
                <a:latin typeface="Arial"/>
                <a:ea typeface="Arial"/>
                <a:cs typeface="Arial"/>
                <a:sym typeface="Arial"/>
              </a:rPr>
              <a:t>Auto Regressive Moving Average</a:t>
            </a:r>
            <a:endParaRPr b="1" i="0" sz="1800" u="none" cap="none" strike="noStrike">
              <a:solidFill>
                <a:srgbClr val="292929"/>
              </a:solidFill>
              <a:highlight>
                <a:srgbClr val="FFFFFF"/>
              </a:highlight>
              <a:latin typeface="Arial"/>
              <a:ea typeface="Arial"/>
              <a:cs typeface="Arial"/>
              <a:sym typeface="Arial"/>
            </a:endParaRPr>
          </a:p>
          <a:p>
            <a:pPr indent="0" lvl="0" marL="0" marR="0" rtl="0" algn="l">
              <a:lnSpc>
                <a:spcPct val="105882"/>
              </a:lnSpc>
              <a:spcBef>
                <a:spcPts val="0"/>
              </a:spcBef>
              <a:spcAft>
                <a:spcPts val="0"/>
              </a:spcAft>
              <a:buNone/>
            </a:pPr>
            <a:r>
              <a:t/>
            </a:r>
            <a:endParaRPr b="0" i="0" sz="1100" u="none" cap="none" strike="noStrike">
              <a:solidFill>
                <a:srgbClr val="292929"/>
              </a:solidFill>
              <a:highlight>
                <a:srgbClr val="FFFFFF"/>
              </a:highlight>
              <a:latin typeface="Georgia"/>
              <a:ea typeface="Georgia"/>
              <a:cs typeface="Georgia"/>
              <a:sym typeface="Georgia"/>
            </a:endParaRPr>
          </a:p>
          <a:p>
            <a:pPr indent="-342900" lvl="0" marL="457200" marR="0" rtl="0" algn="l">
              <a:lnSpc>
                <a:spcPct val="105882"/>
              </a:lnSpc>
              <a:spcBef>
                <a:spcPts val="0"/>
              </a:spcBef>
              <a:spcAft>
                <a:spcPts val="0"/>
              </a:spcAft>
              <a:buClr>
                <a:srgbClr val="292929"/>
              </a:buClr>
              <a:buSzPts val="1800"/>
              <a:buFont typeface="Georgia"/>
              <a:buChar char="●"/>
            </a:pPr>
            <a:r>
              <a:rPr b="1" i="0" lang="en-ZA" sz="1800" u="none" cap="none" strike="noStrike">
                <a:solidFill>
                  <a:srgbClr val="292929"/>
                </a:solidFill>
                <a:highlight>
                  <a:srgbClr val="FFFFFF"/>
                </a:highlight>
                <a:latin typeface="Arial"/>
                <a:ea typeface="Arial"/>
                <a:cs typeface="Arial"/>
                <a:sym typeface="Arial"/>
              </a:rPr>
              <a:t>Auto Regressive Moving Average (ARMA) Model: </a:t>
            </a:r>
            <a:r>
              <a:rPr b="0" i="0" lang="en-ZA" sz="1800" u="none" cap="none" strike="noStrike">
                <a:solidFill>
                  <a:srgbClr val="292929"/>
                </a:solidFill>
                <a:highlight>
                  <a:srgbClr val="FFFFFF"/>
                </a:highlight>
                <a:latin typeface="Georgia"/>
                <a:ea typeface="Georgia"/>
                <a:cs typeface="Georgia"/>
                <a:sym typeface="Georgia"/>
              </a:rPr>
              <a:t>This is a model that is combined from the AR and MA models. In this model, the impact of previous lags along with the residuals is considered for forecasting the future values of the time series.</a:t>
            </a:r>
            <a:endParaRPr b="0" i="0" sz="1800" u="none" cap="none" strike="noStrike">
              <a:solidFill>
                <a:srgbClr val="292929"/>
              </a:solidFill>
              <a:highlight>
                <a:srgbClr val="FFFFFF"/>
              </a:highlight>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292929"/>
              </a:solidFill>
              <a:highlight>
                <a:srgbClr val="FFFFFF"/>
              </a:highlight>
              <a:latin typeface="Georgia"/>
              <a:ea typeface="Georgia"/>
              <a:cs typeface="Georgia"/>
              <a:sym typeface="Georgia"/>
            </a:endParaRPr>
          </a:p>
        </p:txBody>
      </p:sp>
      <p:pic>
        <p:nvPicPr>
          <p:cNvPr id="285" name="Google Shape;285;g2745014f3d5_0_44"/>
          <p:cNvPicPr preferRelativeResize="0"/>
          <p:nvPr/>
        </p:nvPicPr>
        <p:blipFill rotWithShape="1">
          <a:blip r:embed="rId4">
            <a:alphaModFix/>
          </a:blip>
          <a:srcRect b="0" l="0" r="0" t="0"/>
          <a:stretch/>
        </p:blipFill>
        <p:spPr>
          <a:xfrm>
            <a:off x="5388325" y="2232370"/>
            <a:ext cx="3676650" cy="3533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g299a140c505_0_0"/>
          <p:cNvGrpSpPr/>
          <p:nvPr/>
        </p:nvGrpSpPr>
        <p:grpSpPr>
          <a:xfrm>
            <a:off x="0" y="0"/>
            <a:ext cx="9144026" cy="1436645"/>
            <a:chOff x="0" y="0"/>
            <a:chExt cx="9144026" cy="1436645"/>
          </a:xfrm>
        </p:grpSpPr>
        <p:grpSp>
          <p:nvGrpSpPr>
            <p:cNvPr id="291" name="Google Shape;291;g299a140c505_0_0"/>
            <p:cNvGrpSpPr/>
            <p:nvPr/>
          </p:nvGrpSpPr>
          <p:grpSpPr>
            <a:xfrm>
              <a:off x="0" y="0"/>
              <a:ext cx="9144026" cy="896700"/>
              <a:chOff x="0" y="0"/>
              <a:chExt cx="9144026" cy="896700"/>
            </a:xfrm>
          </p:grpSpPr>
          <p:sp>
            <p:nvSpPr>
              <p:cNvPr id="292" name="Google Shape;292;g299a140c505_0_0"/>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293" name="Google Shape;293;g299a140c505_0_0"/>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294" name="Google Shape;294;g299a140c505_0_0"/>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295" name="Google Shape;295;g299a140c505_0_0"/>
            <p:cNvGrpSpPr/>
            <p:nvPr/>
          </p:nvGrpSpPr>
          <p:grpSpPr>
            <a:xfrm>
              <a:off x="0" y="896645"/>
              <a:ext cx="9144000" cy="540000"/>
              <a:chOff x="0" y="896645"/>
              <a:chExt cx="9144000" cy="540000"/>
            </a:xfrm>
          </p:grpSpPr>
          <p:sp>
            <p:nvSpPr>
              <p:cNvPr id="296" name="Google Shape;296;g299a140c505_0_0"/>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7" name="Google Shape;297;g299a140c505_0_0"/>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lang="en-ZA" sz="2100">
                    <a:solidFill>
                      <a:srgbClr val="15284B"/>
                    </a:solidFill>
                    <a:latin typeface="Roboto"/>
                    <a:ea typeface="Roboto"/>
                    <a:cs typeface="Roboto"/>
                    <a:sym typeface="Roboto"/>
                  </a:rPr>
                  <a:t>Case Study</a:t>
                </a:r>
                <a:endParaRPr b="0" i="0" sz="1400" u="none" cap="none" strike="noStrike">
                  <a:solidFill>
                    <a:srgbClr val="000000"/>
                  </a:solidFill>
                  <a:latin typeface="Arial"/>
                  <a:ea typeface="Arial"/>
                  <a:cs typeface="Arial"/>
                  <a:sym typeface="Arial"/>
                </a:endParaRPr>
              </a:p>
            </p:txBody>
          </p:sp>
        </p:grpSp>
      </p:grpSp>
      <p:sp>
        <p:nvSpPr>
          <p:cNvPr id="298" name="Google Shape;298;g299a140c505_0_0"/>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299" name="Google Shape;299;g299a140c505_0_0"/>
          <p:cNvSpPr txBox="1"/>
          <p:nvPr/>
        </p:nvSpPr>
        <p:spPr>
          <a:xfrm>
            <a:off x="929600" y="1799375"/>
            <a:ext cx="7752600" cy="8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ZA" sz="2800">
                <a:solidFill>
                  <a:schemeClr val="dk1"/>
                </a:solidFill>
                <a:latin typeface="Calibri"/>
                <a:ea typeface="Calibri"/>
                <a:cs typeface="Calibri"/>
                <a:sym typeface="Calibri"/>
              </a:rPr>
              <a:t>Do traders’ performance change over time?</a:t>
            </a:r>
            <a:endParaRPr sz="2800">
              <a:solidFill>
                <a:schemeClr val="dk1"/>
              </a:solidFill>
              <a:latin typeface="Calibri"/>
              <a:ea typeface="Calibri"/>
              <a:cs typeface="Calibri"/>
              <a:sym typeface="Calibri"/>
            </a:endParaRPr>
          </a:p>
        </p:txBody>
      </p:sp>
      <p:pic>
        <p:nvPicPr>
          <p:cNvPr id="300" name="Google Shape;300;g299a140c505_0_0"/>
          <p:cNvPicPr preferRelativeResize="0"/>
          <p:nvPr/>
        </p:nvPicPr>
        <p:blipFill>
          <a:blip r:embed="rId4">
            <a:alphaModFix/>
          </a:blip>
          <a:stretch>
            <a:fillRect/>
          </a:stretch>
        </p:blipFill>
        <p:spPr>
          <a:xfrm>
            <a:off x="1900638" y="2623775"/>
            <a:ext cx="5342733" cy="3929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g299a140c505_0_31"/>
          <p:cNvGrpSpPr/>
          <p:nvPr/>
        </p:nvGrpSpPr>
        <p:grpSpPr>
          <a:xfrm>
            <a:off x="0" y="0"/>
            <a:ext cx="9144026" cy="1436645"/>
            <a:chOff x="0" y="0"/>
            <a:chExt cx="9144026" cy="1436645"/>
          </a:xfrm>
        </p:grpSpPr>
        <p:grpSp>
          <p:nvGrpSpPr>
            <p:cNvPr id="306" name="Google Shape;306;g299a140c505_0_31"/>
            <p:cNvGrpSpPr/>
            <p:nvPr/>
          </p:nvGrpSpPr>
          <p:grpSpPr>
            <a:xfrm>
              <a:off x="0" y="0"/>
              <a:ext cx="9144026" cy="896700"/>
              <a:chOff x="0" y="0"/>
              <a:chExt cx="9144026" cy="896700"/>
            </a:xfrm>
          </p:grpSpPr>
          <p:sp>
            <p:nvSpPr>
              <p:cNvPr id="307" name="Google Shape;307;g299a140c505_0_31"/>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308" name="Google Shape;308;g299a140c505_0_31"/>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309" name="Google Shape;309;g299a140c505_0_31"/>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10" name="Google Shape;310;g299a140c505_0_31"/>
            <p:cNvGrpSpPr/>
            <p:nvPr/>
          </p:nvGrpSpPr>
          <p:grpSpPr>
            <a:xfrm>
              <a:off x="0" y="896645"/>
              <a:ext cx="9144000" cy="540000"/>
              <a:chOff x="0" y="896645"/>
              <a:chExt cx="9144000" cy="540000"/>
            </a:xfrm>
          </p:grpSpPr>
          <p:sp>
            <p:nvSpPr>
              <p:cNvPr id="311" name="Google Shape;311;g299a140c505_0_31"/>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g299a140c505_0_31"/>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lang="en-ZA" sz="2100">
                    <a:solidFill>
                      <a:srgbClr val="15284B"/>
                    </a:solidFill>
                    <a:latin typeface="Roboto"/>
                    <a:ea typeface="Roboto"/>
                    <a:cs typeface="Roboto"/>
                    <a:sym typeface="Roboto"/>
                  </a:rPr>
                  <a:t>Case Study - </a:t>
                </a:r>
                <a:r>
                  <a:rPr b="1" lang="en-ZA" sz="2100">
                    <a:solidFill>
                      <a:srgbClr val="15284B"/>
                    </a:solidFill>
                    <a:latin typeface="Roboto"/>
                    <a:ea typeface="Roboto"/>
                    <a:cs typeface="Roboto"/>
                    <a:sym typeface="Roboto"/>
                  </a:rPr>
                  <a:t>Autocorrelations</a:t>
                </a:r>
                <a:endParaRPr b="0" i="0" sz="1400" u="none" cap="none" strike="noStrike">
                  <a:solidFill>
                    <a:srgbClr val="000000"/>
                  </a:solidFill>
                  <a:latin typeface="Arial"/>
                  <a:ea typeface="Arial"/>
                  <a:cs typeface="Arial"/>
                  <a:sym typeface="Arial"/>
                </a:endParaRPr>
              </a:p>
            </p:txBody>
          </p:sp>
        </p:grpSp>
      </p:grpSp>
      <p:sp>
        <p:nvSpPr>
          <p:cNvPr id="313" name="Google Shape;313;g299a140c505_0_31"/>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pic>
        <p:nvPicPr>
          <p:cNvPr id="314" name="Google Shape;314;g299a140c505_0_31"/>
          <p:cNvPicPr preferRelativeResize="0"/>
          <p:nvPr/>
        </p:nvPicPr>
        <p:blipFill rotWithShape="1">
          <a:blip r:embed="rId4">
            <a:alphaModFix/>
          </a:blip>
          <a:srcRect b="0" l="1950" r="1960" t="0"/>
          <a:stretch/>
        </p:blipFill>
        <p:spPr>
          <a:xfrm>
            <a:off x="1900638" y="2623775"/>
            <a:ext cx="5342733" cy="3929425"/>
          </a:xfrm>
          <a:prstGeom prst="rect">
            <a:avLst/>
          </a:prstGeom>
          <a:noFill/>
          <a:ln>
            <a:noFill/>
          </a:ln>
        </p:spPr>
      </p:pic>
      <p:sp>
        <p:nvSpPr>
          <p:cNvPr id="315" name="Google Shape;315;g299a140c505_0_31"/>
          <p:cNvSpPr txBox="1"/>
          <p:nvPr/>
        </p:nvSpPr>
        <p:spPr>
          <a:xfrm>
            <a:off x="929600" y="1799375"/>
            <a:ext cx="7752600" cy="8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ZA" sz="2800">
                <a:solidFill>
                  <a:schemeClr val="dk1"/>
                </a:solidFill>
                <a:latin typeface="Calibri"/>
                <a:ea typeface="Calibri"/>
                <a:cs typeface="Calibri"/>
                <a:sym typeface="Calibri"/>
              </a:rPr>
              <a:t>Do traders’ performance change over time?</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g299a140c505_0_16"/>
          <p:cNvGrpSpPr/>
          <p:nvPr/>
        </p:nvGrpSpPr>
        <p:grpSpPr>
          <a:xfrm>
            <a:off x="0" y="0"/>
            <a:ext cx="9144026" cy="1436645"/>
            <a:chOff x="0" y="0"/>
            <a:chExt cx="9144026" cy="1436645"/>
          </a:xfrm>
        </p:grpSpPr>
        <p:grpSp>
          <p:nvGrpSpPr>
            <p:cNvPr id="321" name="Google Shape;321;g299a140c505_0_16"/>
            <p:cNvGrpSpPr/>
            <p:nvPr/>
          </p:nvGrpSpPr>
          <p:grpSpPr>
            <a:xfrm>
              <a:off x="0" y="0"/>
              <a:ext cx="9144026" cy="896700"/>
              <a:chOff x="0" y="0"/>
              <a:chExt cx="9144026" cy="896700"/>
            </a:xfrm>
          </p:grpSpPr>
          <p:sp>
            <p:nvSpPr>
              <p:cNvPr id="322" name="Google Shape;322;g299a140c505_0_16"/>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323" name="Google Shape;323;g299a140c505_0_16"/>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324" name="Google Shape;324;g299a140c505_0_16"/>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25" name="Google Shape;325;g299a140c505_0_16"/>
            <p:cNvGrpSpPr/>
            <p:nvPr/>
          </p:nvGrpSpPr>
          <p:grpSpPr>
            <a:xfrm>
              <a:off x="0" y="896645"/>
              <a:ext cx="9144000" cy="540000"/>
              <a:chOff x="0" y="896645"/>
              <a:chExt cx="9144000" cy="540000"/>
            </a:xfrm>
          </p:grpSpPr>
          <p:sp>
            <p:nvSpPr>
              <p:cNvPr id="326" name="Google Shape;326;g299a140c505_0_16"/>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g299a140c505_0_16"/>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lang="en-ZA" sz="2100">
                    <a:solidFill>
                      <a:srgbClr val="15284B"/>
                    </a:solidFill>
                    <a:latin typeface="Roboto"/>
                    <a:ea typeface="Roboto"/>
                    <a:cs typeface="Roboto"/>
                    <a:sym typeface="Roboto"/>
                  </a:rPr>
                  <a:t>Case Study - Consecutive Month Differences</a:t>
                </a:r>
                <a:endParaRPr b="0" i="0" sz="1400" u="none" cap="none" strike="noStrike">
                  <a:solidFill>
                    <a:srgbClr val="000000"/>
                  </a:solidFill>
                  <a:latin typeface="Arial"/>
                  <a:ea typeface="Arial"/>
                  <a:cs typeface="Arial"/>
                  <a:sym typeface="Arial"/>
                </a:endParaRPr>
              </a:p>
            </p:txBody>
          </p:sp>
        </p:grpSp>
      </p:grpSp>
      <p:sp>
        <p:nvSpPr>
          <p:cNvPr id="328" name="Google Shape;328;g299a140c505_0_16"/>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329" name="Google Shape;329;g299a140c505_0_16"/>
          <p:cNvSpPr txBox="1"/>
          <p:nvPr/>
        </p:nvSpPr>
        <p:spPr>
          <a:xfrm>
            <a:off x="929600" y="1799375"/>
            <a:ext cx="7752600" cy="8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ZA" sz="2800">
                <a:solidFill>
                  <a:schemeClr val="dk1"/>
                </a:solidFill>
                <a:latin typeface="Calibri"/>
                <a:ea typeface="Calibri"/>
                <a:cs typeface="Calibri"/>
                <a:sym typeface="Calibri"/>
              </a:rPr>
              <a:t>Do traders’ performance change over time?</a:t>
            </a:r>
            <a:endParaRPr sz="2800">
              <a:solidFill>
                <a:schemeClr val="dk1"/>
              </a:solidFill>
              <a:latin typeface="Calibri"/>
              <a:ea typeface="Calibri"/>
              <a:cs typeface="Calibri"/>
              <a:sym typeface="Calibri"/>
            </a:endParaRPr>
          </a:p>
        </p:txBody>
      </p:sp>
      <p:pic>
        <p:nvPicPr>
          <p:cNvPr id="330" name="Google Shape;330;g299a140c505_0_16"/>
          <p:cNvPicPr preferRelativeResize="0"/>
          <p:nvPr/>
        </p:nvPicPr>
        <p:blipFill>
          <a:blip r:embed="rId4">
            <a:alphaModFix/>
          </a:blip>
          <a:stretch>
            <a:fillRect/>
          </a:stretch>
        </p:blipFill>
        <p:spPr>
          <a:xfrm>
            <a:off x="1820163" y="2623775"/>
            <a:ext cx="5503700" cy="379970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g299a140c505_0_46"/>
          <p:cNvGrpSpPr/>
          <p:nvPr/>
        </p:nvGrpSpPr>
        <p:grpSpPr>
          <a:xfrm>
            <a:off x="0" y="0"/>
            <a:ext cx="9144026" cy="1436645"/>
            <a:chOff x="0" y="0"/>
            <a:chExt cx="9144026" cy="1436645"/>
          </a:xfrm>
        </p:grpSpPr>
        <p:grpSp>
          <p:nvGrpSpPr>
            <p:cNvPr id="336" name="Google Shape;336;g299a140c505_0_46"/>
            <p:cNvGrpSpPr/>
            <p:nvPr/>
          </p:nvGrpSpPr>
          <p:grpSpPr>
            <a:xfrm>
              <a:off x="0" y="0"/>
              <a:ext cx="9144026" cy="896700"/>
              <a:chOff x="0" y="0"/>
              <a:chExt cx="9144026" cy="896700"/>
            </a:xfrm>
          </p:grpSpPr>
          <p:sp>
            <p:nvSpPr>
              <p:cNvPr id="337" name="Google Shape;337;g299a140c505_0_46"/>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338" name="Google Shape;338;g299a140c505_0_46"/>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339" name="Google Shape;339;g299a140c505_0_46"/>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40" name="Google Shape;340;g299a140c505_0_46"/>
            <p:cNvGrpSpPr/>
            <p:nvPr/>
          </p:nvGrpSpPr>
          <p:grpSpPr>
            <a:xfrm>
              <a:off x="0" y="896645"/>
              <a:ext cx="9144000" cy="540000"/>
              <a:chOff x="0" y="896645"/>
              <a:chExt cx="9144000" cy="540000"/>
            </a:xfrm>
          </p:grpSpPr>
          <p:sp>
            <p:nvSpPr>
              <p:cNvPr id="341" name="Google Shape;341;g299a140c505_0_46"/>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2" name="Google Shape;342;g299a140c505_0_46"/>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lang="en-ZA" sz="2100">
                    <a:solidFill>
                      <a:srgbClr val="15284B"/>
                    </a:solidFill>
                    <a:latin typeface="Roboto"/>
                    <a:ea typeface="Roboto"/>
                    <a:cs typeface="Roboto"/>
                    <a:sym typeface="Roboto"/>
                  </a:rPr>
                  <a:t>Case Study - Leven Tests</a:t>
                </a:r>
                <a:endParaRPr b="0" i="0" sz="1400" u="none" cap="none" strike="noStrike">
                  <a:solidFill>
                    <a:srgbClr val="000000"/>
                  </a:solidFill>
                  <a:latin typeface="Arial"/>
                  <a:ea typeface="Arial"/>
                  <a:cs typeface="Arial"/>
                  <a:sym typeface="Arial"/>
                </a:endParaRPr>
              </a:p>
            </p:txBody>
          </p:sp>
        </p:grpSp>
      </p:grpSp>
      <p:sp>
        <p:nvSpPr>
          <p:cNvPr id="343" name="Google Shape;343;g299a140c505_0_46"/>
          <p:cNvSpPr txBox="1"/>
          <p:nvPr/>
        </p:nvSpPr>
        <p:spPr>
          <a:xfrm>
            <a:off x="335500" y="55528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
        <p:nvSpPr>
          <p:cNvPr id="344" name="Google Shape;344;g299a140c505_0_46"/>
          <p:cNvSpPr txBox="1"/>
          <p:nvPr/>
        </p:nvSpPr>
        <p:spPr>
          <a:xfrm>
            <a:off x="929600" y="1799375"/>
            <a:ext cx="7752600" cy="8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ZA" sz="2800">
                <a:solidFill>
                  <a:schemeClr val="dk1"/>
                </a:solidFill>
                <a:latin typeface="Calibri"/>
                <a:ea typeface="Calibri"/>
                <a:cs typeface="Calibri"/>
                <a:sym typeface="Calibri"/>
              </a:rPr>
              <a:t>Do traders’ performance change over time?</a:t>
            </a:r>
            <a:endParaRPr sz="2800">
              <a:solidFill>
                <a:schemeClr val="dk1"/>
              </a:solidFill>
              <a:latin typeface="Calibri"/>
              <a:ea typeface="Calibri"/>
              <a:cs typeface="Calibri"/>
              <a:sym typeface="Calibri"/>
            </a:endParaRPr>
          </a:p>
        </p:txBody>
      </p:sp>
      <p:sp>
        <p:nvSpPr>
          <p:cNvPr id="345" name="Google Shape;345;g299a140c505_0_46"/>
          <p:cNvSpPr txBox="1"/>
          <p:nvPr/>
        </p:nvSpPr>
        <p:spPr>
          <a:xfrm>
            <a:off x="748350" y="2623775"/>
            <a:ext cx="7647300" cy="242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ZA" sz="2000">
                <a:solidFill>
                  <a:schemeClr val="dk1"/>
                </a:solidFill>
                <a:highlight>
                  <a:srgbClr val="FFFFFF"/>
                </a:highlight>
              </a:rPr>
              <a:t>From the exploratory analysis of the results of Levene tests for each month and each trader, variance was significantly different before and after 11th month for most traders, using the significance level of 0.05. The variance in profit and loss increases after 11 months of their joining the company. </a:t>
            </a:r>
            <a:endParaRPr sz="2000">
              <a:solidFill>
                <a:schemeClr val="dk1"/>
              </a:solidFill>
              <a:highlight>
                <a:srgbClr val="FFFFFF"/>
              </a:highlight>
            </a:endParaRPr>
          </a:p>
          <a:p>
            <a:pPr indent="0" lvl="0" marL="0" rtl="0" algn="l">
              <a:lnSpc>
                <a:spcPct val="115000"/>
              </a:lnSpc>
              <a:spcBef>
                <a:spcPts val="0"/>
              </a:spcBef>
              <a:spcAft>
                <a:spcPts val="0"/>
              </a:spcAft>
              <a:buNone/>
            </a:pPr>
            <a:r>
              <a:rPr lang="en-ZA" sz="1100">
                <a:solidFill>
                  <a:schemeClr val="dk1"/>
                </a:solidFill>
                <a:highlight>
                  <a:srgbClr val="FFFFFF"/>
                </a:highlight>
              </a:rPr>
              <a:t>					</a:t>
            </a:r>
            <a:endParaRPr sz="1100">
              <a:solidFill>
                <a:schemeClr val="dk1"/>
              </a:solidFill>
              <a:highlight>
                <a:srgbClr val="FFFFFF"/>
              </a:highlight>
            </a:endParaRPr>
          </a:p>
          <a:p>
            <a:pPr indent="0" lvl="0" marL="0" rtl="0" algn="l">
              <a:spcBef>
                <a:spcPts val="0"/>
              </a:spcBef>
              <a:spcAft>
                <a:spcPts val="0"/>
              </a:spcAft>
              <a:buNone/>
            </a:pPr>
            <a:r>
              <a:rPr lang="en-ZA" sz="1100">
                <a:solidFill>
                  <a:schemeClr val="dk1"/>
                </a:solidFill>
                <a:highlight>
                  <a:srgbClr val="FFFFFF"/>
                </a:highlight>
              </a:rPr>
              <a:t>				</a:t>
            </a:r>
            <a:endParaRPr sz="1100">
              <a:solidFill>
                <a:schemeClr val="dk1"/>
              </a:solidFill>
              <a:highlight>
                <a:srgbClr val="FFFFFF"/>
              </a:highlight>
            </a:endParaRPr>
          </a:p>
          <a:p>
            <a:pPr indent="0" lvl="0" marL="0" rtl="0" algn="l">
              <a:spcBef>
                <a:spcPts val="0"/>
              </a:spcBef>
              <a:spcAft>
                <a:spcPts val="0"/>
              </a:spcAft>
              <a:buNone/>
            </a:pPr>
            <a:r>
              <a:rPr lang="en-ZA" sz="1100">
                <a:solidFill>
                  <a:schemeClr val="dk1"/>
                </a:solidFill>
                <a:highlight>
                  <a:srgbClr val="FFFFFF"/>
                </a:highlight>
              </a:rPr>
              <a:t>			</a:t>
            </a:r>
            <a:endParaRPr sz="1100">
              <a:solidFill>
                <a:schemeClr val="dk1"/>
              </a:solidFill>
              <a:highlight>
                <a:srgbClr val="FFFFFF"/>
              </a:highlight>
            </a:endParaRPr>
          </a:p>
          <a:p>
            <a:pPr indent="0" lvl="0" marL="0" rtl="0" algn="l">
              <a:spcBef>
                <a:spcPts val="0"/>
              </a:spcBef>
              <a:spcAft>
                <a:spcPts val="0"/>
              </a:spcAft>
              <a:buNone/>
            </a:pPr>
            <a:r>
              <a:rPr lang="en-ZA" sz="1100">
                <a:solidFill>
                  <a:schemeClr val="dk1"/>
                </a:solidFill>
              </a:rPr>
              <a:t>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g129d2328b0b_0_47"/>
          <p:cNvGrpSpPr/>
          <p:nvPr/>
        </p:nvGrpSpPr>
        <p:grpSpPr>
          <a:xfrm>
            <a:off x="0" y="0"/>
            <a:ext cx="9144026" cy="1436645"/>
            <a:chOff x="0" y="0"/>
            <a:chExt cx="9144026" cy="1436645"/>
          </a:xfrm>
        </p:grpSpPr>
        <p:grpSp>
          <p:nvGrpSpPr>
            <p:cNvPr id="351" name="Google Shape;351;g129d2328b0b_0_47"/>
            <p:cNvGrpSpPr/>
            <p:nvPr/>
          </p:nvGrpSpPr>
          <p:grpSpPr>
            <a:xfrm>
              <a:off x="0" y="0"/>
              <a:ext cx="9144026" cy="896700"/>
              <a:chOff x="0" y="0"/>
              <a:chExt cx="9144026" cy="896700"/>
            </a:xfrm>
          </p:grpSpPr>
          <p:sp>
            <p:nvSpPr>
              <p:cNvPr id="352" name="Google Shape;352;g129d2328b0b_0_47"/>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353" name="Google Shape;353;g129d2328b0b_0_47"/>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354" name="Google Shape;354;g129d2328b0b_0_47"/>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55" name="Google Shape;355;g129d2328b0b_0_47"/>
            <p:cNvGrpSpPr/>
            <p:nvPr/>
          </p:nvGrpSpPr>
          <p:grpSpPr>
            <a:xfrm>
              <a:off x="0" y="896645"/>
              <a:ext cx="9144000" cy="540000"/>
              <a:chOff x="0" y="896645"/>
              <a:chExt cx="9144000" cy="540000"/>
            </a:xfrm>
          </p:grpSpPr>
          <p:sp>
            <p:nvSpPr>
              <p:cNvPr id="356" name="Google Shape;356;g129d2328b0b_0_47"/>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7" name="Google Shape;357;g129d2328b0b_0_47"/>
              <p:cNvSpPr txBox="1"/>
              <p:nvPr/>
            </p:nvSpPr>
            <p:spPr>
              <a:xfrm>
                <a:off x="405646" y="972869"/>
                <a:ext cx="833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Group Discussion</a:t>
                </a:r>
                <a:endParaRPr b="0" i="0" sz="1400" u="none" cap="none" strike="noStrike">
                  <a:solidFill>
                    <a:srgbClr val="000000"/>
                  </a:solidFill>
                  <a:latin typeface="Arial"/>
                  <a:ea typeface="Arial"/>
                  <a:cs typeface="Arial"/>
                  <a:sym typeface="Arial"/>
                </a:endParaRPr>
              </a:p>
            </p:txBody>
          </p:sp>
        </p:grpSp>
      </p:grpSp>
      <p:sp>
        <p:nvSpPr>
          <p:cNvPr id="358" name="Google Shape;358;g129d2328b0b_0_47"/>
          <p:cNvSpPr txBox="1"/>
          <p:nvPr/>
        </p:nvSpPr>
        <p:spPr>
          <a:xfrm>
            <a:off x="404775" y="2534425"/>
            <a:ext cx="8476200" cy="919200"/>
          </a:xfrm>
          <a:prstGeom prst="rect">
            <a:avLst/>
          </a:prstGeom>
          <a:noFill/>
          <a:ln>
            <a:noFill/>
          </a:ln>
        </p:spPr>
        <p:txBody>
          <a:bodyPr anchorCtr="0" anchor="t" bIns="91425" lIns="91425" spcFirstLastPara="1" rIns="91425" wrap="square" tIns="91425">
            <a:spAutoFit/>
          </a:bodyPr>
          <a:lstStyle/>
          <a:p>
            <a:pPr indent="0" lvl="0" marL="0" marR="0" rtl="0" algn="ctr">
              <a:lnSpc>
                <a:spcPct val="218181"/>
              </a:lnSpc>
              <a:spcBef>
                <a:spcPts val="3000"/>
              </a:spcBef>
              <a:spcAft>
                <a:spcPts val="0"/>
              </a:spcAft>
              <a:buClr>
                <a:srgbClr val="000000"/>
              </a:buClr>
              <a:buSzPts val="1500"/>
              <a:buFont typeface="Arial"/>
              <a:buNone/>
            </a:pPr>
            <a:r>
              <a:rPr b="1" i="1" lang="en-ZA" sz="1500" u="none" cap="none" strike="noStrike">
                <a:solidFill>
                  <a:srgbClr val="292929"/>
                </a:solidFill>
                <a:highlight>
                  <a:srgbClr val="FFFFFF"/>
                </a:highlight>
                <a:latin typeface="Georgia"/>
                <a:ea typeface="Georgia"/>
                <a:cs typeface="Georgia"/>
                <a:sym typeface="Georgia"/>
              </a:rPr>
              <a:t>What could be potential applications of Time Series Analysis?</a:t>
            </a:r>
            <a:endParaRPr b="0" i="1" sz="1500" u="none" cap="none" strike="noStrike">
              <a:solidFill>
                <a:srgbClr val="292929"/>
              </a:solidFill>
              <a:highlight>
                <a:srgbClr val="FFFFFF"/>
              </a:highlight>
              <a:latin typeface="Georgia"/>
              <a:ea typeface="Georgia"/>
              <a:cs typeface="Georgia"/>
              <a:sym typeface="Georgia"/>
            </a:endParaRPr>
          </a:p>
          <a:p>
            <a:pPr indent="0" lvl="0" marL="0" marR="0" rtl="0" algn="ctr">
              <a:lnSpc>
                <a:spcPct val="150000"/>
              </a:lnSpc>
              <a:spcBef>
                <a:spcPts val="0"/>
              </a:spcBef>
              <a:spcAft>
                <a:spcPts val="0"/>
              </a:spcAft>
              <a:buClr>
                <a:srgbClr val="000000"/>
              </a:buClr>
              <a:buSzPts val="1150"/>
              <a:buFont typeface="Arial"/>
              <a:buNone/>
            </a:pPr>
            <a:r>
              <a:t/>
            </a:r>
            <a:endParaRPr b="1" i="1" sz="1500" u="none" cap="none" strike="noStrike">
              <a:solidFill>
                <a:srgbClr val="292929"/>
              </a:solidFill>
              <a:highlight>
                <a:srgbClr val="FFFFFF"/>
              </a:highlight>
              <a:latin typeface="Georgia"/>
              <a:ea typeface="Georgia"/>
              <a:cs typeface="Georgia"/>
              <a:sym typeface="Georgia"/>
            </a:endParaRPr>
          </a:p>
        </p:txBody>
      </p:sp>
      <p:pic>
        <p:nvPicPr>
          <p:cNvPr id="359" name="Google Shape;359;g129d2328b0b_0_47"/>
          <p:cNvPicPr preferRelativeResize="0"/>
          <p:nvPr/>
        </p:nvPicPr>
        <p:blipFill rotWithShape="1">
          <a:blip r:embed="rId4">
            <a:alphaModFix/>
          </a:blip>
          <a:srcRect b="0" l="0" r="0" t="0"/>
          <a:stretch/>
        </p:blipFill>
        <p:spPr>
          <a:xfrm>
            <a:off x="2672525" y="3453625"/>
            <a:ext cx="3691263" cy="3099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grpSp>
        <p:nvGrpSpPr>
          <p:cNvPr id="364" name="Google Shape;364;g1217c478b80_0_63"/>
          <p:cNvGrpSpPr/>
          <p:nvPr/>
        </p:nvGrpSpPr>
        <p:grpSpPr>
          <a:xfrm>
            <a:off x="0" y="0"/>
            <a:ext cx="9144026" cy="1436645"/>
            <a:chOff x="0" y="0"/>
            <a:chExt cx="9144026" cy="1436645"/>
          </a:xfrm>
        </p:grpSpPr>
        <p:grpSp>
          <p:nvGrpSpPr>
            <p:cNvPr id="365" name="Google Shape;365;g1217c478b80_0_63"/>
            <p:cNvGrpSpPr/>
            <p:nvPr/>
          </p:nvGrpSpPr>
          <p:grpSpPr>
            <a:xfrm>
              <a:off x="0" y="0"/>
              <a:ext cx="9144026" cy="896700"/>
              <a:chOff x="0" y="0"/>
              <a:chExt cx="9144026" cy="896700"/>
            </a:xfrm>
          </p:grpSpPr>
          <p:sp>
            <p:nvSpPr>
              <p:cNvPr id="366" name="Google Shape;366;g1217c478b80_0_63"/>
              <p:cNvSpPr/>
              <p:nvPr/>
            </p:nvSpPr>
            <p:spPr>
              <a:xfrm>
                <a:off x="0" y="0"/>
                <a:ext cx="9144000" cy="896700"/>
              </a:xfrm>
              <a:prstGeom prst="rect">
                <a:avLst/>
              </a:prstGeom>
              <a:solidFill>
                <a:srgbClr val="15284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ext, logo&#10;&#10;Description automatically generated" id="367" name="Google Shape;367;g1217c478b80_0_63"/>
              <p:cNvPicPr preferRelativeResize="0"/>
              <p:nvPr/>
            </p:nvPicPr>
            <p:blipFill rotWithShape="1">
              <a:blip r:embed="rId3">
                <a:alphaModFix/>
              </a:blip>
              <a:srcRect b="0" l="0" r="0" t="0"/>
              <a:stretch/>
            </p:blipFill>
            <p:spPr>
              <a:xfrm>
                <a:off x="235132" y="137187"/>
                <a:ext cx="4188822" cy="571504"/>
              </a:xfrm>
              <a:prstGeom prst="rect">
                <a:avLst/>
              </a:prstGeom>
              <a:noFill/>
              <a:ln>
                <a:noFill/>
              </a:ln>
            </p:spPr>
          </p:pic>
          <p:sp>
            <p:nvSpPr>
              <p:cNvPr id="368" name="Google Shape;368;g1217c478b80_0_63"/>
              <p:cNvSpPr/>
              <p:nvPr/>
            </p:nvSpPr>
            <p:spPr>
              <a:xfrm>
                <a:off x="8815526" y="0"/>
                <a:ext cx="328500" cy="896700"/>
              </a:xfrm>
              <a:prstGeom prst="rect">
                <a:avLst/>
              </a:prstGeom>
              <a:solidFill>
                <a:srgbClr val="C482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369" name="Google Shape;369;g1217c478b80_0_63"/>
            <p:cNvGrpSpPr/>
            <p:nvPr/>
          </p:nvGrpSpPr>
          <p:grpSpPr>
            <a:xfrm>
              <a:off x="0" y="896645"/>
              <a:ext cx="9144000" cy="540000"/>
              <a:chOff x="0" y="896645"/>
              <a:chExt cx="9144000" cy="540000"/>
            </a:xfrm>
          </p:grpSpPr>
          <p:sp>
            <p:nvSpPr>
              <p:cNvPr id="370" name="Google Shape;370;g1217c478b80_0_63"/>
              <p:cNvSpPr/>
              <p:nvPr/>
            </p:nvSpPr>
            <p:spPr>
              <a:xfrm>
                <a:off x="0" y="896645"/>
                <a:ext cx="9144000" cy="5400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g1217c478b80_0_63"/>
              <p:cNvSpPr txBox="1"/>
              <p:nvPr/>
            </p:nvSpPr>
            <p:spPr>
              <a:xfrm>
                <a:off x="1117600" y="973814"/>
                <a:ext cx="71751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ZA" sz="2100" u="none" cap="none" strike="noStrike">
                    <a:solidFill>
                      <a:srgbClr val="15284B"/>
                    </a:solidFill>
                    <a:latin typeface="Roboto"/>
                    <a:ea typeface="Roboto"/>
                    <a:cs typeface="Roboto"/>
                    <a:sym typeface="Roboto"/>
                  </a:rPr>
                  <a:t>QUESTIONS?</a:t>
                </a:r>
                <a:endParaRPr b="0" i="0" sz="1400" u="none" cap="none" strike="noStrike">
                  <a:solidFill>
                    <a:srgbClr val="000000"/>
                  </a:solidFill>
                  <a:latin typeface="Arial"/>
                  <a:ea typeface="Arial"/>
                  <a:cs typeface="Arial"/>
                  <a:sym typeface="Arial"/>
                </a:endParaRPr>
              </a:p>
            </p:txBody>
          </p:sp>
        </p:grpSp>
      </p:grpSp>
      <p:sp>
        <p:nvSpPr>
          <p:cNvPr id="372" name="Google Shape;372;g1217c478b80_0_63"/>
          <p:cNvSpPr txBox="1"/>
          <p:nvPr/>
        </p:nvSpPr>
        <p:spPr>
          <a:xfrm>
            <a:off x="1665899" y="5698413"/>
            <a:ext cx="5812200" cy="102240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282828"/>
              </a:buClr>
              <a:buSzPts val="28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g1217c478b80_0_63"/>
          <p:cNvPicPr preferRelativeResize="0"/>
          <p:nvPr/>
        </p:nvPicPr>
        <p:blipFill rotWithShape="1">
          <a:blip r:embed="rId4">
            <a:alphaModFix/>
          </a:blip>
          <a:srcRect b="0" l="0" r="0" t="0"/>
          <a:stretch/>
        </p:blipFill>
        <p:spPr>
          <a:xfrm>
            <a:off x="1528337" y="2087449"/>
            <a:ext cx="6087325" cy="34390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2021-10-12T07:16:46Z</dcterms:created>
  <dc:creator>Craig Alexander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0x010100E57726F767DD7244ACBD9ADC2CE245B2</vt:lpwstr>
  </property>
</Properties>
</file>