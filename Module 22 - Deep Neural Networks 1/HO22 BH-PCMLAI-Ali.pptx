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9144000"/>
  <p:notesSz cx="6858000" cy="9144000"/>
  <p:embeddedFontLst>
    <p:embeddedFont>
      <p:font typeface="Ubuntu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ClJrjFwhtvmLAbds/WxriIV+B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7.xml"/><Relationship Id="rId22" Type="http://schemas.openxmlformats.org/officeDocument/2006/relationships/font" Target="fonts/Roboto-italic.fntdata"/><Relationship Id="rId10" Type="http://schemas.openxmlformats.org/officeDocument/2006/relationships/slide" Target="slides/slide6.xml"/><Relationship Id="rId21" Type="http://schemas.openxmlformats.org/officeDocument/2006/relationships/font" Target="fonts/Roboto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Ubuntu-bold.fntdata"/><Relationship Id="rId16" Type="http://schemas.openxmlformats.org/officeDocument/2006/relationships/font" Target="fonts/Ubuntu-regular.fntdata"/><Relationship Id="rId5" Type="http://schemas.openxmlformats.org/officeDocument/2006/relationships/slide" Target="slides/slide1.xml"/><Relationship Id="rId19" Type="http://schemas.openxmlformats.org/officeDocument/2006/relationships/font" Target="fonts/Ubuntu-boldItalic.fntdata"/><Relationship Id="rId6" Type="http://schemas.openxmlformats.org/officeDocument/2006/relationships/slide" Target="slides/slide2.xml"/><Relationship Id="rId18" Type="http://schemas.openxmlformats.org/officeDocument/2006/relationships/font" Target="fonts/Ubuntu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bmc.com/blogs/deep-neural-network/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nalyticssteps.com/blogs/8-applications-neural-networks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owardsdatascience.com/what-are-hyperparameters-and-how-to-tune-the-hyperparameters-in-a-deep-neural-network-d0604917584a" TargetMode="External"/><Relationship Id="rId3" Type="http://schemas.openxmlformats.org/officeDocument/2006/relationships/hyperlink" Target="https://towardsdatascience.com/neural-networks-parameters-hyperparameters-and-optimization-strategies-3f0842fac0a5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owardsdatascience.com/batch-normalisation-in-deep-neural-network-ce65dd9e8dbf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45be412d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ZA" u="sng">
                <a:solidFill>
                  <a:schemeClr val="hlink"/>
                </a:solidFill>
                <a:hlinkClick r:id="rId2"/>
              </a:rPr>
              <a:t>What’s a Deep Neural Network? Deep Nets Explained – BMC Software | Blogs</a:t>
            </a:r>
            <a:endParaRPr>
              <a:solidFill>
                <a:srgbClr val="1D2129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1" name="Google Shape;91;g145be412d5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475e9838f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1D2129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5" name="Google Shape;105;g1475e9838f5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75e9838f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1D2129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17" name="Google Shape;117;g1475e9838f5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75e9838f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1D2129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9" name="Google Shape;129;g1475e9838f5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75e9838f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ZA" u="sng">
                <a:solidFill>
                  <a:schemeClr val="hlink"/>
                </a:solidFill>
                <a:hlinkClick r:id="rId2"/>
              </a:rPr>
              <a:t>8 Applications of Neural Networks | Analytics Steps</a:t>
            </a:r>
            <a:endParaRPr>
              <a:solidFill>
                <a:srgbClr val="1D2129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41" name="Google Shape;141;g1475e9838f5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475e9838f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ZA" u="sng">
                <a:solidFill>
                  <a:schemeClr val="hlink"/>
                </a:solidFill>
                <a:hlinkClick r:id="rId2"/>
              </a:rPr>
              <a:t>What are Hyperparameters ? and How to tune the Hyperparameters in a Deep Neural Network? | by Pranoy Radhakrishnan | Towards Data Science</a:t>
            </a:r>
            <a:endParaRPr>
              <a:solidFill>
                <a:srgbClr val="1D2129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ZA" u="sng">
                <a:solidFill>
                  <a:schemeClr val="hlink"/>
                </a:solidFill>
                <a:hlinkClick r:id="rId3"/>
              </a:rPr>
              <a:t>Neural Networks: parameters, hyperparameters and optimization strategies | by Valentina Alto | Towards Data Science</a:t>
            </a:r>
            <a:endParaRPr>
              <a:solidFill>
                <a:srgbClr val="1D2129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53" name="Google Shape;153;g1475e9838f5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75e9838f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1D2129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65" name="Google Shape;165;g1475e9838f5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5d10098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1D2129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77" name="Google Shape;177;g145d100985d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e3ba2b89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ZA" u="sng">
                <a:solidFill>
                  <a:schemeClr val="hlink"/>
                </a:solidFill>
                <a:hlinkClick r:id="rId2"/>
              </a:rPr>
              <a:t>Why is Batch Normalization useful in Deep Neural Network? | Towards Data Science</a:t>
            </a:r>
            <a:endParaRPr>
              <a:solidFill>
                <a:srgbClr val="1D2129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89" name="Google Shape;189;g29e3ba2b892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3fbb355a67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13fbb355a67_0_1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hyperlink" Target="https://www.bmc.com/blogs/deep-learning-vs-machine-learning/" TargetMode="External"/><Relationship Id="rId6" Type="http://schemas.openxmlformats.org/officeDocument/2006/relationships/hyperlink" Target="https://www.bmc.com/blogs/machine-learning-algorithms/" TargetMode="External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528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, logo&#10;&#10;Description automatically generated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32" y="137187"/>
            <a:ext cx="4188823" cy="57150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200467" y="2775523"/>
            <a:ext cx="4188822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ZA" sz="2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PROFESSIONAL CERTIFICATE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ZA" sz="2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 MACHINE LEARNING 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ZA" sz="2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ARTIFICIAL INTELLIGENCE</a:t>
            </a:r>
            <a:endParaRPr b="1" i="0" sz="2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0" y="6489577"/>
            <a:ext cx="4572000" cy="368423"/>
          </a:xfrm>
          <a:prstGeom prst="rect">
            <a:avLst/>
          </a:prstGeom>
          <a:solidFill>
            <a:srgbClr val="C482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767313" y="2775523"/>
            <a:ext cx="437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ZA" sz="2300" u="none" cap="none" strike="noStrike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Office Hour #22 with </a:t>
            </a:r>
            <a:endParaRPr b="1" i="0" sz="2300" u="none" cap="none" strike="noStrike">
              <a:solidFill>
                <a:srgbClr val="15284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ZA" sz="2300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Ali Chaudhry</a:t>
            </a:r>
            <a:endParaRPr b="1" i="0" sz="2300" u="none" cap="none" strike="noStrike">
              <a:solidFill>
                <a:srgbClr val="15284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ZA" sz="2000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March</a:t>
            </a:r>
            <a:r>
              <a:rPr b="0" i="0" lang="en-ZA" sz="2000" u="none" cap="none" strike="noStrike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ZA" sz="2000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r>
              <a:rPr b="0" i="0" lang="en-ZA" sz="2000" u="none" cap="none" strike="noStrike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, 202</a:t>
            </a:r>
            <a:r>
              <a:rPr lang="en-ZA" sz="2000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ZA" sz="2000" u="none" cap="none" strike="noStrike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 at </a:t>
            </a:r>
            <a:r>
              <a:rPr lang="en-ZA" sz="2000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ZA" sz="2000" u="none" cap="none" strike="noStrike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 pm UTC</a:t>
            </a:r>
            <a:endParaRPr b="0" i="0" sz="2000" u="none" cap="none" strike="noStrike">
              <a:solidFill>
                <a:srgbClr val="1528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g145be412d54_0_0"/>
          <p:cNvGrpSpPr/>
          <p:nvPr/>
        </p:nvGrpSpPr>
        <p:grpSpPr>
          <a:xfrm>
            <a:off x="0" y="0"/>
            <a:ext cx="9144026" cy="1436645"/>
            <a:chOff x="0" y="0"/>
            <a:chExt cx="9144026" cy="1436645"/>
          </a:xfrm>
        </p:grpSpPr>
        <p:grpSp>
          <p:nvGrpSpPr>
            <p:cNvPr id="94" name="Google Shape;94;g145be412d54_0_0"/>
            <p:cNvGrpSpPr/>
            <p:nvPr/>
          </p:nvGrpSpPr>
          <p:grpSpPr>
            <a:xfrm>
              <a:off x="0" y="0"/>
              <a:ext cx="9144026" cy="896700"/>
              <a:chOff x="0" y="0"/>
              <a:chExt cx="9144026" cy="896700"/>
            </a:xfrm>
          </p:grpSpPr>
          <p:sp>
            <p:nvSpPr>
              <p:cNvPr id="95" name="Google Shape;95;g145be412d54_0_0"/>
              <p:cNvSpPr/>
              <p:nvPr/>
            </p:nvSpPr>
            <p:spPr>
              <a:xfrm>
                <a:off x="0" y="0"/>
                <a:ext cx="9144000" cy="896700"/>
              </a:xfrm>
              <a:prstGeom prst="rect">
                <a:avLst/>
              </a:prstGeom>
              <a:solidFill>
                <a:srgbClr val="1528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ext, logo&#10;&#10;Description automatically generated" id="96" name="Google Shape;96;g145be412d54_0_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5132" y="137187"/>
                <a:ext cx="4188822" cy="5715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" name="Google Shape;97;g145be412d54_0_0"/>
              <p:cNvSpPr/>
              <p:nvPr/>
            </p:nvSpPr>
            <p:spPr>
              <a:xfrm>
                <a:off x="8815526" y="0"/>
                <a:ext cx="328500" cy="896700"/>
              </a:xfrm>
              <a:prstGeom prst="rect">
                <a:avLst/>
              </a:prstGeom>
              <a:solidFill>
                <a:srgbClr val="C482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" name="Google Shape;98;g145be412d54_0_0"/>
            <p:cNvSpPr/>
            <p:nvPr/>
          </p:nvSpPr>
          <p:spPr>
            <a:xfrm>
              <a:off x="0" y="896645"/>
              <a:ext cx="9144000" cy="5400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145be412d54_0_0"/>
          <p:cNvSpPr txBox="1"/>
          <p:nvPr/>
        </p:nvSpPr>
        <p:spPr>
          <a:xfrm>
            <a:off x="1117600" y="973814"/>
            <a:ext cx="717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ZA" sz="2100" u="none" cap="none" strike="noStrike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Deep Neural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g145be412d5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589045"/>
            <a:ext cx="5167339" cy="511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145be412d54_0_0"/>
          <p:cNvSpPr txBox="1"/>
          <p:nvPr/>
        </p:nvSpPr>
        <p:spPr>
          <a:xfrm>
            <a:off x="5707575" y="2110200"/>
            <a:ext cx="3272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ZA" sz="1350" u="none" cap="none" strike="noStrike">
                <a:solidFill>
                  <a:srgbClr val="1D1D1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First, </a:t>
            </a:r>
            <a:r>
              <a:rPr b="0" i="0" lang="en-ZA" sz="1350" u="none" cap="none" strike="noStrike">
                <a:solidFill>
                  <a:srgbClr val="0078CC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machine learning</a:t>
            </a:r>
            <a:r>
              <a:rPr b="0" i="0" lang="en-ZA" sz="1350" u="none" cap="none" strike="noStrike">
                <a:solidFill>
                  <a:srgbClr val="1D1D1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had to get developed. ML is a framework to automate (through </a:t>
            </a:r>
            <a:r>
              <a:rPr b="0" i="0" lang="en-ZA" sz="1350" u="none" cap="none" strike="noStrike">
                <a:solidFill>
                  <a:srgbClr val="0078CC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algorithms</a:t>
            </a:r>
            <a:r>
              <a:rPr b="0" i="0" lang="en-ZA" sz="1350" u="none" cap="none" strike="noStrike">
                <a:solidFill>
                  <a:srgbClr val="1D1D1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 statistical models to get better at making predictions. A model is a single model that makes predictions about something. Those predictions are made with some accuracy.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g145be412d54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64750" y="4279473"/>
            <a:ext cx="2445825" cy="115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g1475e9838f5_0_5"/>
          <p:cNvGrpSpPr/>
          <p:nvPr/>
        </p:nvGrpSpPr>
        <p:grpSpPr>
          <a:xfrm>
            <a:off x="0" y="0"/>
            <a:ext cx="9144026" cy="1436645"/>
            <a:chOff x="0" y="0"/>
            <a:chExt cx="9144026" cy="1436645"/>
          </a:xfrm>
        </p:grpSpPr>
        <p:grpSp>
          <p:nvGrpSpPr>
            <p:cNvPr id="108" name="Google Shape;108;g1475e9838f5_0_5"/>
            <p:cNvGrpSpPr/>
            <p:nvPr/>
          </p:nvGrpSpPr>
          <p:grpSpPr>
            <a:xfrm>
              <a:off x="0" y="0"/>
              <a:ext cx="9144026" cy="896700"/>
              <a:chOff x="0" y="0"/>
              <a:chExt cx="9144026" cy="896700"/>
            </a:xfrm>
          </p:grpSpPr>
          <p:sp>
            <p:nvSpPr>
              <p:cNvPr id="109" name="Google Shape;109;g1475e9838f5_0_5"/>
              <p:cNvSpPr/>
              <p:nvPr/>
            </p:nvSpPr>
            <p:spPr>
              <a:xfrm>
                <a:off x="0" y="0"/>
                <a:ext cx="9144000" cy="896700"/>
              </a:xfrm>
              <a:prstGeom prst="rect">
                <a:avLst/>
              </a:prstGeom>
              <a:solidFill>
                <a:srgbClr val="1528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ext, logo&#10;&#10;Description automatically generated" id="110" name="Google Shape;110;g1475e9838f5_0_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5132" y="137187"/>
                <a:ext cx="4188822" cy="5715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1" name="Google Shape;111;g1475e9838f5_0_5"/>
              <p:cNvSpPr/>
              <p:nvPr/>
            </p:nvSpPr>
            <p:spPr>
              <a:xfrm>
                <a:off x="8815526" y="0"/>
                <a:ext cx="328500" cy="896700"/>
              </a:xfrm>
              <a:prstGeom prst="rect">
                <a:avLst/>
              </a:prstGeom>
              <a:solidFill>
                <a:srgbClr val="C482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2" name="Google Shape;112;g1475e9838f5_0_5"/>
            <p:cNvSpPr/>
            <p:nvPr/>
          </p:nvSpPr>
          <p:spPr>
            <a:xfrm>
              <a:off x="0" y="896645"/>
              <a:ext cx="9144000" cy="5400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1475e9838f5_0_5"/>
          <p:cNvSpPr txBox="1"/>
          <p:nvPr/>
        </p:nvSpPr>
        <p:spPr>
          <a:xfrm>
            <a:off x="1117600" y="973819"/>
            <a:ext cx="717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48444"/>
              </a:lnSpc>
              <a:spcBef>
                <a:spcPts val="0"/>
              </a:spcBef>
              <a:spcAft>
                <a:spcPts val="0"/>
              </a:spcAft>
              <a:buClr>
                <a:srgbClr val="4F535A"/>
              </a:buClr>
              <a:buSzPts val="1800"/>
              <a:buFont typeface="Arial"/>
              <a:buNone/>
            </a:pPr>
            <a:r>
              <a:rPr b="1" lang="en-ZA" sz="2100">
                <a:solidFill>
                  <a:schemeClr val="dk1"/>
                </a:solidFill>
              </a:rPr>
              <a:t>Intro to Deep Learning </a:t>
            </a:r>
            <a:endParaRPr b="1" sz="2100">
              <a:solidFill>
                <a:srgbClr val="15284B"/>
              </a:solidFill>
            </a:endParaRPr>
          </a:p>
        </p:txBody>
      </p:sp>
      <p:pic>
        <p:nvPicPr>
          <p:cNvPr descr="What are Neural Networks? - United Kingdom | IBM" id="114" name="Google Shape;114;g1475e9838f5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0000" y="1778851"/>
            <a:ext cx="6829701" cy="485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g1475e9838f5_0_17"/>
          <p:cNvGrpSpPr/>
          <p:nvPr/>
        </p:nvGrpSpPr>
        <p:grpSpPr>
          <a:xfrm>
            <a:off x="0" y="0"/>
            <a:ext cx="9144026" cy="1436645"/>
            <a:chOff x="0" y="0"/>
            <a:chExt cx="9144026" cy="1436645"/>
          </a:xfrm>
        </p:grpSpPr>
        <p:grpSp>
          <p:nvGrpSpPr>
            <p:cNvPr id="120" name="Google Shape;120;g1475e9838f5_0_17"/>
            <p:cNvGrpSpPr/>
            <p:nvPr/>
          </p:nvGrpSpPr>
          <p:grpSpPr>
            <a:xfrm>
              <a:off x="0" y="0"/>
              <a:ext cx="9144026" cy="896700"/>
              <a:chOff x="0" y="0"/>
              <a:chExt cx="9144026" cy="896700"/>
            </a:xfrm>
          </p:grpSpPr>
          <p:sp>
            <p:nvSpPr>
              <p:cNvPr id="121" name="Google Shape;121;g1475e9838f5_0_17"/>
              <p:cNvSpPr/>
              <p:nvPr/>
            </p:nvSpPr>
            <p:spPr>
              <a:xfrm>
                <a:off x="0" y="0"/>
                <a:ext cx="9144000" cy="896700"/>
              </a:xfrm>
              <a:prstGeom prst="rect">
                <a:avLst/>
              </a:prstGeom>
              <a:solidFill>
                <a:srgbClr val="1528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ext, logo&#10;&#10;Description automatically generated" id="122" name="Google Shape;122;g1475e9838f5_0_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5132" y="137187"/>
                <a:ext cx="4188822" cy="5715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" name="Google Shape;123;g1475e9838f5_0_17"/>
              <p:cNvSpPr/>
              <p:nvPr/>
            </p:nvSpPr>
            <p:spPr>
              <a:xfrm>
                <a:off x="8815526" y="0"/>
                <a:ext cx="328500" cy="896700"/>
              </a:xfrm>
              <a:prstGeom prst="rect">
                <a:avLst/>
              </a:prstGeom>
              <a:solidFill>
                <a:srgbClr val="C482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4" name="Google Shape;124;g1475e9838f5_0_17"/>
            <p:cNvSpPr/>
            <p:nvPr/>
          </p:nvSpPr>
          <p:spPr>
            <a:xfrm>
              <a:off x="0" y="896645"/>
              <a:ext cx="9144000" cy="5400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g1475e9838f5_0_17"/>
          <p:cNvSpPr txBox="1"/>
          <p:nvPr/>
        </p:nvSpPr>
        <p:spPr>
          <a:xfrm>
            <a:off x="1117600" y="973814"/>
            <a:ext cx="717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ZA" sz="2100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Applications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1475e9838f5_0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204" y="1668703"/>
            <a:ext cx="8597618" cy="4502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g1475e9838f5_0_32"/>
          <p:cNvGrpSpPr/>
          <p:nvPr/>
        </p:nvGrpSpPr>
        <p:grpSpPr>
          <a:xfrm>
            <a:off x="0" y="0"/>
            <a:ext cx="9144026" cy="1436645"/>
            <a:chOff x="0" y="0"/>
            <a:chExt cx="9144026" cy="1436645"/>
          </a:xfrm>
        </p:grpSpPr>
        <p:grpSp>
          <p:nvGrpSpPr>
            <p:cNvPr id="132" name="Google Shape;132;g1475e9838f5_0_32"/>
            <p:cNvGrpSpPr/>
            <p:nvPr/>
          </p:nvGrpSpPr>
          <p:grpSpPr>
            <a:xfrm>
              <a:off x="0" y="0"/>
              <a:ext cx="9144026" cy="896700"/>
              <a:chOff x="0" y="0"/>
              <a:chExt cx="9144026" cy="896700"/>
            </a:xfrm>
          </p:grpSpPr>
          <p:sp>
            <p:nvSpPr>
              <p:cNvPr id="133" name="Google Shape;133;g1475e9838f5_0_32"/>
              <p:cNvSpPr/>
              <p:nvPr/>
            </p:nvSpPr>
            <p:spPr>
              <a:xfrm>
                <a:off x="0" y="0"/>
                <a:ext cx="9144000" cy="896700"/>
              </a:xfrm>
              <a:prstGeom prst="rect">
                <a:avLst/>
              </a:prstGeom>
              <a:solidFill>
                <a:srgbClr val="1528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ext, logo&#10;&#10;Description automatically generated" id="134" name="Google Shape;134;g1475e9838f5_0_3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5132" y="137187"/>
                <a:ext cx="4188822" cy="5715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" name="Google Shape;135;g1475e9838f5_0_32"/>
              <p:cNvSpPr/>
              <p:nvPr/>
            </p:nvSpPr>
            <p:spPr>
              <a:xfrm>
                <a:off x="8815526" y="0"/>
                <a:ext cx="328500" cy="896700"/>
              </a:xfrm>
              <a:prstGeom prst="rect">
                <a:avLst/>
              </a:prstGeom>
              <a:solidFill>
                <a:srgbClr val="C482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6" name="Google Shape;136;g1475e9838f5_0_32"/>
            <p:cNvSpPr/>
            <p:nvPr/>
          </p:nvSpPr>
          <p:spPr>
            <a:xfrm>
              <a:off x="0" y="896645"/>
              <a:ext cx="9144000" cy="5400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g1475e9838f5_0_32"/>
          <p:cNvSpPr txBox="1"/>
          <p:nvPr/>
        </p:nvSpPr>
        <p:spPr>
          <a:xfrm>
            <a:off x="1117600" y="973814"/>
            <a:ext cx="717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ZA" sz="2100"/>
              <a:t>History</a:t>
            </a:r>
            <a:endParaRPr b="1" i="0" sz="2100" u="none" cap="none" strike="noStrike">
              <a:solidFill>
                <a:srgbClr val="000000"/>
              </a:solidFill>
            </a:endParaRPr>
          </a:p>
        </p:txBody>
      </p:sp>
      <p:pic>
        <p:nvPicPr>
          <p:cNvPr descr="Graphical user interface, website&#10;&#10;Description automatically generated" id="138" name="Google Shape;138;g1475e9838f5_0_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1071" y="1811560"/>
            <a:ext cx="7348231" cy="4833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g1475e9838f5_0_59"/>
          <p:cNvGrpSpPr/>
          <p:nvPr/>
        </p:nvGrpSpPr>
        <p:grpSpPr>
          <a:xfrm>
            <a:off x="0" y="0"/>
            <a:ext cx="9144026" cy="1436645"/>
            <a:chOff x="0" y="0"/>
            <a:chExt cx="9144026" cy="1436645"/>
          </a:xfrm>
        </p:grpSpPr>
        <p:grpSp>
          <p:nvGrpSpPr>
            <p:cNvPr id="144" name="Google Shape;144;g1475e9838f5_0_59"/>
            <p:cNvGrpSpPr/>
            <p:nvPr/>
          </p:nvGrpSpPr>
          <p:grpSpPr>
            <a:xfrm>
              <a:off x="0" y="0"/>
              <a:ext cx="9144026" cy="896700"/>
              <a:chOff x="0" y="0"/>
              <a:chExt cx="9144026" cy="896700"/>
            </a:xfrm>
          </p:grpSpPr>
          <p:sp>
            <p:nvSpPr>
              <p:cNvPr id="145" name="Google Shape;145;g1475e9838f5_0_59"/>
              <p:cNvSpPr/>
              <p:nvPr/>
            </p:nvSpPr>
            <p:spPr>
              <a:xfrm>
                <a:off x="0" y="0"/>
                <a:ext cx="9144000" cy="896700"/>
              </a:xfrm>
              <a:prstGeom prst="rect">
                <a:avLst/>
              </a:prstGeom>
              <a:solidFill>
                <a:srgbClr val="1528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ext, logo&#10;&#10;Description automatically generated" id="146" name="Google Shape;146;g1475e9838f5_0_5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5132" y="137187"/>
                <a:ext cx="4188822" cy="5715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" name="Google Shape;147;g1475e9838f5_0_59"/>
              <p:cNvSpPr/>
              <p:nvPr/>
            </p:nvSpPr>
            <p:spPr>
              <a:xfrm>
                <a:off x="8815526" y="0"/>
                <a:ext cx="328500" cy="896700"/>
              </a:xfrm>
              <a:prstGeom prst="rect">
                <a:avLst/>
              </a:prstGeom>
              <a:solidFill>
                <a:srgbClr val="C482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" name="Google Shape;148;g1475e9838f5_0_59"/>
            <p:cNvSpPr/>
            <p:nvPr/>
          </p:nvSpPr>
          <p:spPr>
            <a:xfrm>
              <a:off x="0" y="896645"/>
              <a:ext cx="9144000" cy="5400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g1475e9838f5_0_59"/>
          <p:cNvSpPr txBox="1"/>
          <p:nvPr/>
        </p:nvSpPr>
        <p:spPr>
          <a:xfrm>
            <a:off x="1117600" y="973814"/>
            <a:ext cx="717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ZA" sz="2100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Neural Network - Building blocks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150" name="Google Shape;150;g1475e9838f5_0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668" y="2237216"/>
            <a:ext cx="8408603" cy="3848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g1475e9838f5_0_72"/>
          <p:cNvGrpSpPr/>
          <p:nvPr/>
        </p:nvGrpSpPr>
        <p:grpSpPr>
          <a:xfrm>
            <a:off x="0" y="0"/>
            <a:ext cx="9144026" cy="1436645"/>
            <a:chOff x="0" y="0"/>
            <a:chExt cx="9144026" cy="1436645"/>
          </a:xfrm>
        </p:grpSpPr>
        <p:grpSp>
          <p:nvGrpSpPr>
            <p:cNvPr id="156" name="Google Shape;156;g1475e9838f5_0_72"/>
            <p:cNvGrpSpPr/>
            <p:nvPr/>
          </p:nvGrpSpPr>
          <p:grpSpPr>
            <a:xfrm>
              <a:off x="0" y="0"/>
              <a:ext cx="9144026" cy="896700"/>
              <a:chOff x="0" y="0"/>
              <a:chExt cx="9144026" cy="896700"/>
            </a:xfrm>
          </p:grpSpPr>
          <p:sp>
            <p:nvSpPr>
              <p:cNvPr id="157" name="Google Shape;157;g1475e9838f5_0_72"/>
              <p:cNvSpPr/>
              <p:nvPr/>
            </p:nvSpPr>
            <p:spPr>
              <a:xfrm>
                <a:off x="0" y="0"/>
                <a:ext cx="9144000" cy="896700"/>
              </a:xfrm>
              <a:prstGeom prst="rect">
                <a:avLst/>
              </a:prstGeom>
              <a:solidFill>
                <a:srgbClr val="1528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ext, logo&#10;&#10;Description automatically generated" id="158" name="Google Shape;158;g1475e9838f5_0_7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5132" y="137187"/>
                <a:ext cx="4188822" cy="5715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9" name="Google Shape;159;g1475e9838f5_0_72"/>
              <p:cNvSpPr/>
              <p:nvPr/>
            </p:nvSpPr>
            <p:spPr>
              <a:xfrm>
                <a:off x="8815526" y="0"/>
                <a:ext cx="328500" cy="896700"/>
              </a:xfrm>
              <a:prstGeom prst="rect">
                <a:avLst/>
              </a:prstGeom>
              <a:solidFill>
                <a:srgbClr val="C482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0" name="Google Shape;160;g1475e9838f5_0_72"/>
            <p:cNvSpPr/>
            <p:nvPr/>
          </p:nvSpPr>
          <p:spPr>
            <a:xfrm>
              <a:off x="0" y="896645"/>
              <a:ext cx="9144000" cy="5400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g1475e9838f5_0_72"/>
          <p:cNvSpPr txBox="1"/>
          <p:nvPr/>
        </p:nvSpPr>
        <p:spPr>
          <a:xfrm>
            <a:off x="1117600" y="973814"/>
            <a:ext cx="717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ZA" sz="2100"/>
              <a:t>Evaluating Neural Nets</a:t>
            </a:r>
            <a:endParaRPr b="1" i="0" sz="2100" u="none" cap="none" strike="noStrike">
              <a:solidFill>
                <a:srgbClr val="000000"/>
              </a:solidFill>
            </a:endParaRPr>
          </a:p>
        </p:txBody>
      </p:sp>
      <p:pic>
        <p:nvPicPr>
          <p:cNvPr descr="Text, whiteboard&#10;&#10;Description automatically generated" id="162" name="Google Shape;162;g1475e9838f5_0_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6376" y="2041551"/>
            <a:ext cx="5731050" cy="413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g1475e9838f5_0_99"/>
          <p:cNvGrpSpPr/>
          <p:nvPr/>
        </p:nvGrpSpPr>
        <p:grpSpPr>
          <a:xfrm>
            <a:off x="0" y="0"/>
            <a:ext cx="9144026" cy="1436645"/>
            <a:chOff x="0" y="0"/>
            <a:chExt cx="9144026" cy="1436645"/>
          </a:xfrm>
        </p:grpSpPr>
        <p:grpSp>
          <p:nvGrpSpPr>
            <p:cNvPr id="168" name="Google Shape;168;g1475e9838f5_0_99"/>
            <p:cNvGrpSpPr/>
            <p:nvPr/>
          </p:nvGrpSpPr>
          <p:grpSpPr>
            <a:xfrm>
              <a:off x="0" y="0"/>
              <a:ext cx="9144026" cy="896700"/>
              <a:chOff x="0" y="0"/>
              <a:chExt cx="9144026" cy="896700"/>
            </a:xfrm>
          </p:grpSpPr>
          <p:sp>
            <p:nvSpPr>
              <p:cNvPr id="169" name="Google Shape;169;g1475e9838f5_0_99"/>
              <p:cNvSpPr/>
              <p:nvPr/>
            </p:nvSpPr>
            <p:spPr>
              <a:xfrm>
                <a:off x="0" y="0"/>
                <a:ext cx="9144000" cy="896700"/>
              </a:xfrm>
              <a:prstGeom prst="rect">
                <a:avLst/>
              </a:prstGeom>
              <a:solidFill>
                <a:srgbClr val="1528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ext, logo&#10;&#10;Description automatically generated" id="170" name="Google Shape;170;g1475e9838f5_0_9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5132" y="137187"/>
                <a:ext cx="4188822" cy="5715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" name="Google Shape;171;g1475e9838f5_0_99"/>
              <p:cNvSpPr/>
              <p:nvPr/>
            </p:nvSpPr>
            <p:spPr>
              <a:xfrm>
                <a:off x="8815526" y="0"/>
                <a:ext cx="328500" cy="896700"/>
              </a:xfrm>
              <a:prstGeom prst="rect">
                <a:avLst/>
              </a:prstGeom>
              <a:solidFill>
                <a:srgbClr val="C482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" name="Google Shape;172;g1475e9838f5_0_99"/>
            <p:cNvSpPr/>
            <p:nvPr/>
          </p:nvSpPr>
          <p:spPr>
            <a:xfrm>
              <a:off x="0" y="896645"/>
              <a:ext cx="9144000" cy="5400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g1475e9838f5_0_99"/>
          <p:cNvSpPr txBox="1"/>
          <p:nvPr/>
        </p:nvSpPr>
        <p:spPr>
          <a:xfrm>
            <a:off x="1117600" y="973814"/>
            <a:ext cx="717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ZA" sz="2100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Improving Neural Nets - Backpropagation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1475e9838f5_0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4150" y="1858275"/>
            <a:ext cx="6735075" cy="46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g145d100985d_0_1"/>
          <p:cNvGrpSpPr/>
          <p:nvPr/>
        </p:nvGrpSpPr>
        <p:grpSpPr>
          <a:xfrm>
            <a:off x="0" y="0"/>
            <a:ext cx="9144026" cy="1436645"/>
            <a:chOff x="0" y="0"/>
            <a:chExt cx="9144026" cy="1436645"/>
          </a:xfrm>
        </p:grpSpPr>
        <p:grpSp>
          <p:nvGrpSpPr>
            <p:cNvPr id="180" name="Google Shape;180;g145d100985d_0_1"/>
            <p:cNvGrpSpPr/>
            <p:nvPr/>
          </p:nvGrpSpPr>
          <p:grpSpPr>
            <a:xfrm>
              <a:off x="0" y="0"/>
              <a:ext cx="9144026" cy="896700"/>
              <a:chOff x="0" y="0"/>
              <a:chExt cx="9144026" cy="896700"/>
            </a:xfrm>
          </p:grpSpPr>
          <p:sp>
            <p:nvSpPr>
              <p:cNvPr id="181" name="Google Shape;181;g145d100985d_0_1"/>
              <p:cNvSpPr/>
              <p:nvPr/>
            </p:nvSpPr>
            <p:spPr>
              <a:xfrm>
                <a:off x="0" y="0"/>
                <a:ext cx="9144000" cy="896700"/>
              </a:xfrm>
              <a:prstGeom prst="rect">
                <a:avLst/>
              </a:prstGeom>
              <a:solidFill>
                <a:srgbClr val="1528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ext, logo&#10;&#10;Description automatically generated" id="182" name="Google Shape;182;g145d100985d_0_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5132" y="137187"/>
                <a:ext cx="4188822" cy="5715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3" name="Google Shape;183;g145d100985d_0_1"/>
              <p:cNvSpPr/>
              <p:nvPr/>
            </p:nvSpPr>
            <p:spPr>
              <a:xfrm>
                <a:off x="8815526" y="0"/>
                <a:ext cx="328500" cy="896700"/>
              </a:xfrm>
              <a:prstGeom prst="rect">
                <a:avLst/>
              </a:prstGeom>
              <a:solidFill>
                <a:srgbClr val="C482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4" name="Google Shape;184;g145d100985d_0_1"/>
            <p:cNvSpPr/>
            <p:nvPr/>
          </p:nvSpPr>
          <p:spPr>
            <a:xfrm>
              <a:off x="0" y="896645"/>
              <a:ext cx="9144000" cy="5400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g145d100985d_0_1"/>
          <p:cNvSpPr txBox="1"/>
          <p:nvPr/>
        </p:nvSpPr>
        <p:spPr>
          <a:xfrm>
            <a:off x="1117600" y="973814"/>
            <a:ext cx="717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-ZA" sz="2100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Improving Neural Nets - Stochastic Gradient Descent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Diagram&#10;&#10;Description automatically generated" id="186" name="Google Shape;186;g145d100985d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174" y="1887265"/>
            <a:ext cx="6386398" cy="4310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g29e3ba2b892_0_9"/>
          <p:cNvGrpSpPr/>
          <p:nvPr/>
        </p:nvGrpSpPr>
        <p:grpSpPr>
          <a:xfrm>
            <a:off x="0" y="0"/>
            <a:ext cx="9144026" cy="1436645"/>
            <a:chOff x="0" y="0"/>
            <a:chExt cx="9144026" cy="1436645"/>
          </a:xfrm>
        </p:grpSpPr>
        <p:grpSp>
          <p:nvGrpSpPr>
            <p:cNvPr id="192" name="Google Shape;192;g29e3ba2b892_0_9"/>
            <p:cNvGrpSpPr/>
            <p:nvPr/>
          </p:nvGrpSpPr>
          <p:grpSpPr>
            <a:xfrm>
              <a:off x="0" y="0"/>
              <a:ext cx="9144026" cy="896700"/>
              <a:chOff x="0" y="0"/>
              <a:chExt cx="9144026" cy="896700"/>
            </a:xfrm>
          </p:grpSpPr>
          <p:sp>
            <p:nvSpPr>
              <p:cNvPr id="193" name="Google Shape;193;g29e3ba2b892_0_9"/>
              <p:cNvSpPr/>
              <p:nvPr/>
            </p:nvSpPr>
            <p:spPr>
              <a:xfrm>
                <a:off x="0" y="0"/>
                <a:ext cx="9144000" cy="896700"/>
              </a:xfrm>
              <a:prstGeom prst="rect">
                <a:avLst/>
              </a:prstGeom>
              <a:solidFill>
                <a:srgbClr val="1528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ext, logo&#10;&#10;Description automatically generated" id="194" name="Google Shape;194;g29e3ba2b892_0_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5132" y="137187"/>
                <a:ext cx="4188822" cy="5715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5" name="Google Shape;195;g29e3ba2b892_0_9"/>
              <p:cNvSpPr/>
              <p:nvPr/>
            </p:nvSpPr>
            <p:spPr>
              <a:xfrm>
                <a:off x="8815526" y="0"/>
                <a:ext cx="328500" cy="896700"/>
              </a:xfrm>
              <a:prstGeom prst="rect">
                <a:avLst/>
              </a:prstGeom>
              <a:solidFill>
                <a:srgbClr val="C482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6" name="Google Shape;196;g29e3ba2b892_0_9"/>
            <p:cNvSpPr/>
            <p:nvPr/>
          </p:nvSpPr>
          <p:spPr>
            <a:xfrm>
              <a:off x="0" y="896645"/>
              <a:ext cx="9144000" cy="5400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g29e3ba2b892_0_9"/>
          <p:cNvSpPr txBox="1"/>
          <p:nvPr/>
        </p:nvSpPr>
        <p:spPr>
          <a:xfrm>
            <a:off x="1117600" y="973814"/>
            <a:ext cx="717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A blue screen with white text&#10;&#10;Description automatically generated with medium confidence" id="198" name="Google Shape;198;g29e3ba2b892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2638" y="1772369"/>
            <a:ext cx="7245023" cy="458617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29e3ba2b892_0_9"/>
          <p:cNvSpPr txBox="1"/>
          <p:nvPr/>
        </p:nvSpPr>
        <p:spPr>
          <a:xfrm>
            <a:off x="1117600" y="973814"/>
            <a:ext cx="717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-ZA" sz="2100">
                <a:solidFill>
                  <a:srgbClr val="15284B"/>
                </a:solidFill>
                <a:latin typeface="Roboto"/>
                <a:ea typeface="Roboto"/>
                <a:cs typeface="Roboto"/>
                <a:sym typeface="Roboto"/>
              </a:rPr>
              <a:t>Hyperparameter Optimization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g13fbb355a67_0_126"/>
          <p:cNvGrpSpPr/>
          <p:nvPr/>
        </p:nvGrpSpPr>
        <p:grpSpPr>
          <a:xfrm>
            <a:off x="0" y="0"/>
            <a:ext cx="9144026" cy="1436645"/>
            <a:chOff x="0" y="0"/>
            <a:chExt cx="9144026" cy="1436645"/>
          </a:xfrm>
        </p:grpSpPr>
        <p:grpSp>
          <p:nvGrpSpPr>
            <p:cNvPr id="205" name="Google Shape;205;g13fbb355a67_0_126"/>
            <p:cNvGrpSpPr/>
            <p:nvPr/>
          </p:nvGrpSpPr>
          <p:grpSpPr>
            <a:xfrm>
              <a:off x="0" y="0"/>
              <a:ext cx="9144026" cy="896700"/>
              <a:chOff x="0" y="0"/>
              <a:chExt cx="9144026" cy="896700"/>
            </a:xfrm>
          </p:grpSpPr>
          <p:sp>
            <p:nvSpPr>
              <p:cNvPr id="206" name="Google Shape;206;g13fbb355a67_0_126"/>
              <p:cNvSpPr/>
              <p:nvPr/>
            </p:nvSpPr>
            <p:spPr>
              <a:xfrm>
                <a:off x="0" y="0"/>
                <a:ext cx="9144000" cy="896700"/>
              </a:xfrm>
              <a:prstGeom prst="rect">
                <a:avLst/>
              </a:prstGeom>
              <a:solidFill>
                <a:srgbClr val="15284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ext, logo&#10;&#10;Description automatically generated" id="207" name="Google Shape;207;g13fbb355a67_0_1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5132" y="137187"/>
                <a:ext cx="4188822" cy="5715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" name="Google Shape;208;g13fbb355a67_0_126"/>
              <p:cNvSpPr/>
              <p:nvPr/>
            </p:nvSpPr>
            <p:spPr>
              <a:xfrm>
                <a:off x="8815526" y="0"/>
                <a:ext cx="328500" cy="896700"/>
              </a:xfrm>
              <a:prstGeom prst="rect">
                <a:avLst/>
              </a:prstGeom>
              <a:solidFill>
                <a:srgbClr val="C482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9" name="Google Shape;209;g13fbb355a67_0_126"/>
            <p:cNvGrpSpPr/>
            <p:nvPr/>
          </p:nvGrpSpPr>
          <p:grpSpPr>
            <a:xfrm>
              <a:off x="0" y="896645"/>
              <a:ext cx="9144000" cy="540000"/>
              <a:chOff x="0" y="896645"/>
              <a:chExt cx="9144000" cy="540000"/>
            </a:xfrm>
          </p:grpSpPr>
          <p:sp>
            <p:nvSpPr>
              <p:cNvPr id="210" name="Google Shape;210;g13fbb355a67_0_126"/>
              <p:cNvSpPr/>
              <p:nvPr/>
            </p:nvSpPr>
            <p:spPr>
              <a:xfrm>
                <a:off x="0" y="896645"/>
                <a:ext cx="9144000" cy="540000"/>
              </a:xfrm>
              <a:prstGeom prst="rect">
                <a:avLst/>
              </a:pr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g13fbb355a67_0_126"/>
              <p:cNvSpPr txBox="1"/>
              <p:nvPr/>
            </p:nvSpPr>
            <p:spPr>
              <a:xfrm>
                <a:off x="1117600" y="973814"/>
                <a:ext cx="71751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00"/>
                  <a:buFont typeface="Arial"/>
                  <a:buNone/>
                </a:pPr>
                <a:r>
                  <a:rPr b="1" i="0" lang="en-ZA" sz="2100" u="none" cap="none" strike="noStrike">
                    <a:solidFill>
                      <a:srgbClr val="15284B"/>
                    </a:solidFill>
                    <a:latin typeface="Roboto"/>
                    <a:ea typeface="Roboto"/>
                    <a:cs typeface="Roboto"/>
                    <a:sym typeface="Roboto"/>
                  </a:rPr>
                  <a:t>QUESTIONS?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2" name="Google Shape;212;g13fbb355a67_0_126"/>
          <p:cNvSpPr txBox="1"/>
          <p:nvPr/>
        </p:nvSpPr>
        <p:spPr>
          <a:xfrm>
            <a:off x="1665899" y="5698413"/>
            <a:ext cx="58122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g13fbb355a67_0_1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8337" y="2087449"/>
            <a:ext cx="6087325" cy="3439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2021-10-12T07:16:46Z</dcterms:created>
  <dc:creator>Craig Alexander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0x010100E57726F767DD7244ACBD9ADC2CE245B2</vt:lpwstr>
  </property>
</Properties>
</file>